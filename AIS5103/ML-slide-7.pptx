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276" r:id="rId3"/>
    <p:sldId id="275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77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4957A-E058-48DC-ABFB-D36FED13C5CD}" v="7" dt="2026-03-27T02:35:18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8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an-Sheng" userId="7d25d710-0931-49a3-acef-49192cec40f2" providerId="ADAL" clId="{E63B6F78-7103-498C-AF8C-BB4BFB38E716}"/>
    <pc:docChg chg="custSel addSld delSld modSld">
      <pc:chgData name="Wang Jian-Sheng" userId="7d25d710-0931-49a3-acef-49192cec40f2" providerId="ADAL" clId="{E63B6F78-7103-498C-AF8C-BB4BFB38E716}" dt="2026-03-09T03:04:21.326" v="1757" actId="1037"/>
      <pc:docMkLst>
        <pc:docMk/>
      </pc:docMkLst>
      <pc:sldChg chg="modSp modNotesTx">
        <pc:chgData name="Wang Jian-Sheng" userId="7d25d710-0931-49a3-acef-49192cec40f2" providerId="ADAL" clId="{E63B6F78-7103-498C-AF8C-BB4BFB38E716}" dt="2026-03-09T02:57:05.825" v="1545" actId="20577"/>
        <pc:sldMkLst>
          <pc:docMk/>
          <pc:sldMk cId="2153188837" sldId="258"/>
        </pc:sldMkLst>
        <pc:spChg chg="mod">
          <ac:chgData name="Wang Jian-Sheng" userId="7d25d710-0931-49a3-acef-49192cec40f2" providerId="ADAL" clId="{E63B6F78-7103-498C-AF8C-BB4BFB38E716}" dt="2026-03-09T02:57:05.825" v="1545" actId="20577"/>
          <ac:spMkLst>
            <pc:docMk/>
            <pc:sldMk cId="2153188837" sldId="258"/>
            <ac:spMk id="4" creationId="{FE2F1026-AD94-4412-BD4F-59BB80E5138D}"/>
          </ac:spMkLst>
        </pc:spChg>
      </pc:sldChg>
      <pc:sldChg chg="addSp modSp">
        <pc:chgData name="Wang Jian-Sheng" userId="7d25d710-0931-49a3-acef-49192cec40f2" providerId="ADAL" clId="{E63B6F78-7103-498C-AF8C-BB4BFB38E716}" dt="2026-03-09T03:01:32.816" v="1710" actId="1036"/>
        <pc:sldMkLst>
          <pc:docMk/>
          <pc:sldMk cId="1219142098" sldId="260"/>
        </pc:sldMkLst>
        <pc:spChg chg="add mod">
          <ac:chgData name="Wang Jian-Sheng" userId="7d25d710-0931-49a3-acef-49192cec40f2" providerId="ADAL" clId="{E63B6F78-7103-498C-AF8C-BB4BFB38E716}" dt="2026-03-05T03:02:39.201" v="607" actId="20577"/>
          <ac:spMkLst>
            <pc:docMk/>
            <pc:sldMk cId="1219142098" sldId="260"/>
            <ac:spMk id="5" creationId="{18E911A7-8D3B-49F2-BE37-4573756852C7}"/>
          </ac:spMkLst>
        </pc:spChg>
        <pc:spChg chg="add mod">
          <ac:chgData name="Wang Jian-Sheng" userId="7d25d710-0931-49a3-acef-49192cec40f2" providerId="ADAL" clId="{E63B6F78-7103-498C-AF8C-BB4BFB38E716}" dt="2026-03-09T03:01:32.816" v="1710" actId="1036"/>
          <ac:spMkLst>
            <pc:docMk/>
            <pc:sldMk cId="1219142098" sldId="260"/>
            <ac:spMk id="6" creationId="{E1F774F2-22F4-4130-B887-DFD18F126860}"/>
          </ac:spMkLst>
        </pc:spChg>
        <pc:spChg chg="add mod">
          <ac:chgData name="Wang Jian-Sheng" userId="7d25d710-0931-49a3-acef-49192cec40f2" providerId="ADAL" clId="{E63B6F78-7103-498C-AF8C-BB4BFB38E716}" dt="2026-03-09T03:01:19.648" v="1705" actId="1035"/>
          <ac:spMkLst>
            <pc:docMk/>
            <pc:sldMk cId="1219142098" sldId="260"/>
            <ac:spMk id="7" creationId="{3102B4EB-53CC-4E96-A10C-70051CF4B051}"/>
          </ac:spMkLst>
        </pc:spChg>
        <pc:spChg chg="add mod">
          <ac:chgData name="Wang Jian-Sheng" userId="7d25d710-0931-49a3-acef-49192cec40f2" providerId="ADAL" clId="{E63B6F78-7103-498C-AF8C-BB4BFB38E716}" dt="2026-03-09T03:01:11.885" v="1686" actId="1036"/>
          <ac:spMkLst>
            <pc:docMk/>
            <pc:sldMk cId="1219142098" sldId="260"/>
            <ac:spMk id="8" creationId="{9C5C1B4C-44E9-4DF0-8C71-C041B7B198B0}"/>
          </ac:spMkLst>
        </pc:spChg>
        <pc:spChg chg="add mod">
          <ac:chgData name="Wang Jian-Sheng" userId="7d25d710-0931-49a3-acef-49192cec40f2" providerId="ADAL" clId="{E63B6F78-7103-498C-AF8C-BB4BFB38E716}" dt="2026-03-05T03:04:42.995" v="830" actId="20577"/>
          <ac:spMkLst>
            <pc:docMk/>
            <pc:sldMk cId="1219142098" sldId="260"/>
            <ac:spMk id="9" creationId="{E9CF2A01-CA03-4010-A474-022E007A16DE}"/>
          </ac:spMkLst>
        </pc:spChg>
        <pc:spChg chg="add mod">
          <ac:chgData name="Wang Jian-Sheng" userId="7d25d710-0931-49a3-acef-49192cec40f2" providerId="ADAL" clId="{E63B6F78-7103-498C-AF8C-BB4BFB38E716}" dt="2026-03-05T03:05:07.868" v="871" actId="20577"/>
          <ac:spMkLst>
            <pc:docMk/>
            <pc:sldMk cId="1219142098" sldId="260"/>
            <ac:spMk id="10" creationId="{E27D01DA-8D26-44D0-B359-035CB9E700BE}"/>
          </ac:spMkLst>
        </pc:spChg>
        <pc:spChg chg="add mod">
          <ac:chgData name="Wang Jian-Sheng" userId="7d25d710-0931-49a3-acef-49192cec40f2" providerId="ADAL" clId="{E63B6F78-7103-498C-AF8C-BB4BFB38E716}" dt="2026-03-05T03:30:49.741" v="1295" actId="1076"/>
          <ac:spMkLst>
            <pc:docMk/>
            <pc:sldMk cId="1219142098" sldId="260"/>
            <ac:spMk id="20" creationId="{22547C6C-B2DB-41BB-A17C-ADC87B9E6511}"/>
          </ac:spMkLst>
        </pc:spChg>
        <pc:cxnChg chg="add mod">
          <ac:chgData name="Wang Jian-Sheng" userId="7d25d710-0931-49a3-acef-49192cec40f2" providerId="ADAL" clId="{E63B6F78-7103-498C-AF8C-BB4BFB38E716}" dt="2026-03-05T03:05:37.017" v="872" actId="11529"/>
          <ac:cxnSpMkLst>
            <pc:docMk/>
            <pc:sldMk cId="1219142098" sldId="260"/>
            <ac:cxnSpMk id="12" creationId="{66C8F41D-D549-4410-A236-380121AF6EB5}"/>
          </ac:cxnSpMkLst>
        </pc:cxnChg>
        <pc:cxnChg chg="add mod">
          <ac:chgData name="Wang Jian-Sheng" userId="7d25d710-0931-49a3-acef-49192cec40f2" providerId="ADAL" clId="{E63B6F78-7103-498C-AF8C-BB4BFB38E716}" dt="2026-03-05T03:05:49.693" v="923" actId="1036"/>
          <ac:cxnSpMkLst>
            <pc:docMk/>
            <pc:sldMk cId="1219142098" sldId="260"/>
            <ac:cxnSpMk id="13" creationId="{92F71285-CA68-443B-97CF-BBB17260CC65}"/>
          </ac:cxnSpMkLst>
        </pc:cxnChg>
        <pc:cxnChg chg="add mod">
          <ac:chgData name="Wang Jian-Sheng" userId="7d25d710-0931-49a3-acef-49192cec40f2" providerId="ADAL" clId="{E63B6F78-7103-498C-AF8C-BB4BFB38E716}" dt="2026-03-05T03:06:12.963" v="925" actId="208"/>
          <ac:cxnSpMkLst>
            <pc:docMk/>
            <pc:sldMk cId="1219142098" sldId="260"/>
            <ac:cxnSpMk id="15" creationId="{A295EFD6-16BD-48A2-AB5C-43E87DBC7847}"/>
          </ac:cxnSpMkLst>
        </pc:cxnChg>
        <pc:cxnChg chg="add mod">
          <ac:chgData name="Wang Jian-Sheng" userId="7d25d710-0931-49a3-acef-49192cec40f2" providerId="ADAL" clId="{E63B6F78-7103-498C-AF8C-BB4BFB38E716}" dt="2026-03-05T03:06:26.942" v="966" actId="1038"/>
          <ac:cxnSpMkLst>
            <pc:docMk/>
            <pc:sldMk cId="1219142098" sldId="260"/>
            <ac:cxnSpMk id="16" creationId="{0C50ECD7-C773-4941-A6A2-97FB0CD013E5}"/>
          </ac:cxnSpMkLst>
        </pc:cxnChg>
        <pc:cxnChg chg="add mod">
          <ac:chgData name="Wang Jian-Sheng" userId="7d25d710-0931-49a3-acef-49192cec40f2" providerId="ADAL" clId="{E63B6F78-7103-498C-AF8C-BB4BFB38E716}" dt="2026-03-09T03:00:49.362" v="1669" actId="1035"/>
          <ac:cxnSpMkLst>
            <pc:docMk/>
            <pc:sldMk cId="1219142098" sldId="260"/>
            <ac:cxnSpMk id="18" creationId="{E7844D8D-D60B-4B38-B3C2-1D3343DD1C03}"/>
          </ac:cxnSpMkLst>
        </pc:cxnChg>
        <pc:cxnChg chg="add mod">
          <ac:chgData name="Wang Jian-Sheng" userId="7d25d710-0931-49a3-acef-49192cec40f2" providerId="ADAL" clId="{E63B6F78-7103-498C-AF8C-BB4BFB38E716}" dt="2026-03-09T03:00:54.503" v="1675" actId="1035"/>
          <ac:cxnSpMkLst>
            <pc:docMk/>
            <pc:sldMk cId="1219142098" sldId="260"/>
            <ac:cxnSpMk id="19" creationId="{660BB399-E012-477E-90ED-45F3C5167D2C}"/>
          </ac:cxnSpMkLst>
        </pc:cxnChg>
      </pc:sldChg>
      <pc:sldChg chg="modSp modNotesTx">
        <pc:chgData name="Wang Jian-Sheng" userId="7d25d710-0931-49a3-acef-49192cec40f2" providerId="ADAL" clId="{E63B6F78-7103-498C-AF8C-BB4BFB38E716}" dt="2026-03-09T03:04:21.326" v="1757" actId="1037"/>
        <pc:sldMkLst>
          <pc:docMk/>
          <pc:sldMk cId="2226880061" sldId="264"/>
        </pc:sldMkLst>
        <pc:spChg chg="mod">
          <ac:chgData name="Wang Jian-Sheng" userId="7d25d710-0931-49a3-acef-49192cec40f2" providerId="ADAL" clId="{E63B6F78-7103-498C-AF8C-BB4BFB38E716}" dt="2026-03-09T03:04:21.326" v="1757" actId="1037"/>
          <ac:spMkLst>
            <pc:docMk/>
            <pc:sldMk cId="2226880061" sldId="264"/>
            <ac:spMk id="13" creationId="{41B1C5A1-6695-A107-70A2-CAF266D6D59D}"/>
          </ac:spMkLst>
        </pc:spChg>
      </pc:sldChg>
      <pc:sldChg chg="modNotesTx">
        <pc:chgData name="Wang Jian-Sheng" userId="7d25d710-0931-49a3-acef-49192cec40f2" providerId="ADAL" clId="{E63B6F78-7103-498C-AF8C-BB4BFB38E716}" dt="2026-03-05T03:37:44.098" v="1452" actId="20577"/>
        <pc:sldMkLst>
          <pc:docMk/>
          <pc:sldMk cId="3447762516" sldId="266"/>
        </pc:sldMkLst>
      </pc:sldChg>
      <pc:sldChg chg="addSp modSp">
        <pc:chgData name="Wang Jian-Sheng" userId="7d25d710-0931-49a3-acef-49192cec40f2" providerId="ADAL" clId="{E63B6F78-7103-498C-AF8C-BB4BFB38E716}" dt="2026-03-05T03:40:15.254" v="1499" actId="20577"/>
        <pc:sldMkLst>
          <pc:docMk/>
          <pc:sldMk cId="4138129518" sldId="269"/>
        </pc:sldMkLst>
        <pc:spChg chg="add mod">
          <ac:chgData name="Wang Jian-Sheng" userId="7d25d710-0931-49a3-acef-49192cec40f2" providerId="ADAL" clId="{E63B6F78-7103-498C-AF8C-BB4BFB38E716}" dt="2026-03-05T03:40:15.254" v="1499" actId="20577"/>
          <ac:spMkLst>
            <pc:docMk/>
            <pc:sldMk cId="4138129518" sldId="269"/>
            <ac:spMk id="3" creationId="{0A7C3CAB-0C35-4DA5-B20A-6E63C74D8E9D}"/>
          </ac:spMkLst>
        </pc:spChg>
      </pc:sldChg>
      <pc:sldChg chg="addSp modSp">
        <pc:chgData name="Wang Jian-Sheng" userId="7d25d710-0931-49a3-acef-49192cec40f2" providerId="ADAL" clId="{E63B6F78-7103-498C-AF8C-BB4BFB38E716}" dt="2026-02-26T06:54:57.852" v="588" actId="1076"/>
        <pc:sldMkLst>
          <pc:docMk/>
          <pc:sldMk cId="342739876" sldId="270"/>
        </pc:sldMkLst>
        <pc:spChg chg="mod">
          <ac:chgData name="Wang Jian-Sheng" userId="7d25d710-0931-49a3-acef-49192cec40f2" providerId="ADAL" clId="{E63B6F78-7103-498C-AF8C-BB4BFB38E716}" dt="2026-02-26T06:53:49.333" v="577" actId="1076"/>
          <ac:spMkLst>
            <pc:docMk/>
            <pc:sldMk cId="342739876" sldId="270"/>
            <ac:spMk id="4" creationId="{B20011D2-38CD-4FC4-90C1-C8ACEC6B5429}"/>
          </ac:spMkLst>
        </pc:spChg>
        <pc:spChg chg="mod">
          <ac:chgData name="Wang Jian-Sheng" userId="7d25d710-0931-49a3-acef-49192cec40f2" providerId="ADAL" clId="{E63B6F78-7103-498C-AF8C-BB4BFB38E716}" dt="2026-02-26T06:54:10.133" v="581" actId="1076"/>
          <ac:spMkLst>
            <pc:docMk/>
            <pc:sldMk cId="342739876" sldId="270"/>
            <ac:spMk id="5" creationId="{8BD09FD6-12C7-415D-8ED3-F34B85ED910C}"/>
          </ac:spMkLst>
        </pc:spChg>
        <pc:picChg chg="add mod">
          <ac:chgData name="Wang Jian-Sheng" userId="7d25d710-0931-49a3-acef-49192cec40f2" providerId="ADAL" clId="{E63B6F78-7103-498C-AF8C-BB4BFB38E716}" dt="2026-02-26T06:54:57.852" v="588" actId="1076"/>
          <ac:picMkLst>
            <pc:docMk/>
            <pc:sldMk cId="342739876" sldId="270"/>
            <ac:picMk id="3" creationId="{99CBB35F-472B-4CD4-9DD3-C80B5D379CB0}"/>
          </ac:picMkLst>
        </pc:picChg>
      </pc:sldChg>
      <pc:sldChg chg="modSp add modNotesTx">
        <pc:chgData name="Wang Jian-Sheng" userId="7d25d710-0931-49a3-acef-49192cec40f2" providerId="ADAL" clId="{E63B6F78-7103-498C-AF8C-BB4BFB38E716}" dt="2026-03-09T02:59:34.842" v="1666" actId="20577"/>
        <pc:sldMkLst>
          <pc:docMk/>
          <pc:sldMk cId="2145953660" sldId="275"/>
        </pc:sldMkLst>
        <pc:spChg chg="mod">
          <ac:chgData name="Wang Jian-Sheng" userId="7d25d710-0931-49a3-acef-49192cec40f2" providerId="ADAL" clId="{E63B6F78-7103-498C-AF8C-BB4BFB38E716}" dt="2026-02-26T06:10:24.317" v="26" actId="20577"/>
          <ac:spMkLst>
            <pc:docMk/>
            <pc:sldMk cId="2145953660" sldId="275"/>
            <ac:spMk id="2" creationId="{A3EF1C99-7E52-414D-B6C3-4AD2E301151A}"/>
          </ac:spMkLst>
        </pc:spChg>
        <pc:spChg chg="mod">
          <ac:chgData name="Wang Jian-Sheng" userId="7d25d710-0931-49a3-acef-49192cec40f2" providerId="ADAL" clId="{E63B6F78-7103-498C-AF8C-BB4BFB38E716}" dt="2026-02-26T06:24:41.833" v="573" actId="20577"/>
          <ac:spMkLst>
            <pc:docMk/>
            <pc:sldMk cId="2145953660" sldId="275"/>
            <ac:spMk id="3" creationId="{3674DA4F-2B15-4923-BE87-25CFE50A498C}"/>
          </ac:spMkLst>
        </pc:spChg>
      </pc:sldChg>
      <pc:sldChg chg="add">
        <pc:chgData name="Wang Jian-Sheng" userId="7d25d710-0931-49a3-acef-49192cec40f2" providerId="ADAL" clId="{E63B6F78-7103-498C-AF8C-BB4BFB38E716}" dt="2026-02-26T06:18:26.173" v="554"/>
        <pc:sldMkLst>
          <pc:docMk/>
          <pc:sldMk cId="674023186" sldId="276"/>
        </pc:sldMkLst>
      </pc:sldChg>
      <pc:sldChg chg="modSp add modNotesTx">
        <pc:chgData name="Wang Jian-Sheng" userId="7d25d710-0931-49a3-acef-49192cec40f2" providerId="ADAL" clId="{E63B6F78-7103-498C-AF8C-BB4BFB38E716}" dt="2026-03-05T03:26:35.485" v="1225" actId="20577"/>
        <pc:sldMkLst>
          <pc:docMk/>
          <pc:sldMk cId="1118385724" sldId="277"/>
        </pc:sldMkLst>
        <pc:spChg chg="mod">
          <ac:chgData name="Wang Jian-Sheng" userId="7d25d710-0931-49a3-acef-49192cec40f2" providerId="ADAL" clId="{E63B6F78-7103-498C-AF8C-BB4BFB38E716}" dt="2026-03-05T03:11:34.574" v="1033" actId="20577"/>
          <ac:spMkLst>
            <pc:docMk/>
            <pc:sldMk cId="1118385724" sldId="277"/>
            <ac:spMk id="2" creationId="{91CB4EDB-1989-48C0-A0B6-9295B9D963FC}"/>
          </ac:spMkLst>
        </pc:spChg>
        <pc:spChg chg="mod">
          <ac:chgData name="Wang Jian-Sheng" userId="7d25d710-0931-49a3-acef-49192cec40f2" providerId="ADAL" clId="{E63B6F78-7103-498C-AF8C-BB4BFB38E716}" dt="2026-03-05T03:26:35.485" v="1225" actId="20577"/>
          <ac:spMkLst>
            <pc:docMk/>
            <pc:sldMk cId="1118385724" sldId="277"/>
            <ac:spMk id="3" creationId="{4334E423-3AF8-4825-BDDF-7DA0C212CF5D}"/>
          </ac:spMkLst>
        </pc:spChg>
      </pc:sldChg>
    </pc:docChg>
  </pc:docChgLst>
  <pc:docChgLst>
    <pc:chgData name="Wang Jian-Sheng" userId="7d25d710-0931-49a3-acef-49192cec40f2" providerId="ADAL" clId="{66572D02-9A0D-4195-ADB6-5DBDF78AF6B3}"/>
    <pc:docChg chg="custSel modSld">
      <pc:chgData name="Wang Jian-Sheng" userId="7d25d710-0931-49a3-acef-49192cec40f2" providerId="ADAL" clId="{66572D02-9A0D-4195-ADB6-5DBDF78AF6B3}" dt="2026-03-27T02:37:34.866" v="189" actId="20577"/>
      <pc:docMkLst>
        <pc:docMk/>
      </pc:docMkLst>
      <pc:sldChg chg="addSp modSp mod modNotesTx">
        <pc:chgData name="Wang Jian-Sheng" userId="7d25d710-0931-49a3-acef-49192cec40f2" providerId="ADAL" clId="{66572D02-9A0D-4195-ADB6-5DBDF78AF6B3}" dt="2026-03-27T02:37:34.866" v="189" actId="20577"/>
        <pc:sldMkLst>
          <pc:docMk/>
          <pc:sldMk cId="145267991" sldId="274"/>
        </pc:sldMkLst>
        <pc:spChg chg="add mod">
          <ac:chgData name="Wang Jian-Sheng" userId="7d25d710-0931-49a3-acef-49192cec40f2" providerId="ADAL" clId="{66572D02-9A0D-4195-ADB6-5DBDF78AF6B3}" dt="2026-03-27T02:35:33.650" v="55" actId="1037"/>
          <ac:spMkLst>
            <pc:docMk/>
            <pc:sldMk cId="145267991" sldId="274"/>
            <ac:spMk id="3" creationId="{99600F7C-921E-9195-41AB-A1B577281F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323C-DA4A-438F-B55F-27209206FB23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A136-CBA9-41BE-B678-BB635CF2BB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10, Bishop, “Deep Learning, Foundations and Concepts”.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1189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can MLP learning every function x -&gt; y = f(x)?  No. example, a random function.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391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kernel K is also called filter.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56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, the images have for indices, </a:t>
            </a:r>
            <a:r>
              <a:rPr lang="en-US" dirty="0" err="1"/>
              <a:t>imag</a:t>
            </a:r>
            <a:r>
              <a:rPr lang="en-US" dirty="0"/>
              <a:t>(</a:t>
            </a:r>
            <a:r>
              <a:rPr lang="en-US" dirty="0" err="1"/>
              <a:t>n,c,h,w</a:t>
            </a:r>
            <a:r>
              <a:rPr lang="en-US" dirty="0"/>
              <a:t>): n is batch index, c is channel, h is height index, w is width index.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5016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Dilation: if larger than 1, it skips d-1 for input, increasing the receptive field without increasing the kernel size.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8150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shown by the box is usually the </a:t>
            </a:r>
            <a:r>
              <a:rPr lang="en-US" dirty="0" err="1"/>
              <a:t>preactivation</a:t>
            </a:r>
            <a:r>
              <a:rPr lang="en-US" dirty="0"/>
              <a:t> in the form of X^T, the design </a:t>
            </a:r>
            <a:r>
              <a:rPr lang="en-US"/>
              <a:t>matrix transposed.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4512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F94C-8A6A-45FE-82A9-DD9AF81D1A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8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youtu.be/UZDiGooFs5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F1026-AD94-4412-BD4F-59BB80E5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114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7,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Convolutional Neural Network (CNN)</a:t>
            </a:r>
          </a:p>
        </p:txBody>
      </p:sp>
    </p:spTree>
    <p:extLst>
      <p:ext uri="{BB962C8B-B14F-4D97-AF65-F5344CB8AC3E}">
        <p14:creationId xmlns:p14="http://schemas.microsoft.com/office/powerpoint/2010/main" val="21531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2EDF-B002-75EC-5711-5C660C6F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deep network can do?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68990-A348-3EE8-4294-6CD28B122C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Detection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Caption generation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367911-3065-DA81-69A1-0638CC14A6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  <a:p>
            <a:endParaRPr lang="en-US" dirty="0"/>
          </a:p>
          <a:p>
            <a:r>
              <a:rPr lang="en-US" dirty="0"/>
              <a:t>Protein folding</a:t>
            </a:r>
          </a:p>
          <a:p>
            <a:endParaRPr lang="en-US" dirty="0"/>
          </a:p>
          <a:p>
            <a:r>
              <a:rPr lang="en-US" dirty="0"/>
              <a:t>ML-based force field, </a:t>
            </a:r>
            <a:r>
              <a:rPr lang="en-US" dirty="0" err="1"/>
              <a:t>etc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402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1C99-7E52-414D-B6C3-4AD2E301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and inductive bias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DA4F-2B15-4923-BE87-25CFE50A4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principle, with enough width and depth, the multi-layer </a:t>
            </a:r>
            <a:r>
              <a:rPr lang="en-US" dirty="0" err="1"/>
              <a:t>perceptrons</a:t>
            </a:r>
            <a:r>
              <a:rPr lang="en-US" dirty="0"/>
              <a:t> (MLP) can do everything</a:t>
            </a:r>
          </a:p>
          <a:p>
            <a:endParaRPr lang="en-US" dirty="0"/>
          </a:p>
          <a:p>
            <a:r>
              <a:rPr lang="en-US" dirty="0"/>
              <a:t>However, in practice, it is inefficient due to a larger number of parameters needed for training and inference</a:t>
            </a:r>
          </a:p>
          <a:p>
            <a:endParaRPr lang="en-US" dirty="0"/>
          </a:p>
          <a:p>
            <a:r>
              <a:rPr lang="en-US" dirty="0"/>
              <a:t>Thus, a strong “inductive bias” is needed for computer vision/classification.  Translational </a:t>
            </a:r>
            <a:r>
              <a:rPr lang="en-US" dirty="0" err="1"/>
              <a:t>equi</a:t>
            </a:r>
            <a:r>
              <a:rPr lang="en-US" dirty="0"/>
              <a:t>-variance is helpful</a:t>
            </a:r>
          </a:p>
        </p:txBody>
      </p:sp>
    </p:spTree>
    <p:extLst>
      <p:ext uri="{BB962C8B-B14F-4D97-AF65-F5344CB8AC3E}">
        <p14:creationId xmlns:p14="http://schemas.microsoft.com/office/powerpoint/2010/main" val="214595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9119-F023-0833-23F0-06AE4E5F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biases for image processing in CNN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E693-9CE9-E4F1-4A87-8833E2F3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97033"/>
            <a:ext cx="7886700" cy="37799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Translation equivariance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Locality (sparseness)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Parameter sharing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8D67B-0B63-4875-8874-31E42AB7C688}"/>
                  </a:ext>
                </a:extLst>
              </p:cNvPr>
              <p:cNvSpPr txBox="1"/>
              <p:nvPr/>
            </p:nvSpPr>
            <p:spPr>
              <a:xfrm>
                <a:off x="5989320" y="2397033"/>
                <a:ext cx="2168351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8D67B-0B63-4875-8874-31E42AB7C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0" y="2397033"/>
                <a:ext cx="2168351" cy="404983"/>
              </a:xfrm>
              <a:prstGeom prst="rect">
                <a:avLst/>
              </a:prstGeo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E911A7-8D3B-49F2-BE37-4573756852C7}"/>
                  </a:ext>
                </a:extLst>
              </p:cNvPr>
              <p:cNvSpPr/>
              <p:nvPr/>
            </p:nvSpPr>
            <p:spPr>
              <a:xfrm>
                <a:off x="5853545" y="4606636"/>
                <a:ext cx="221673" cy="2216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E911A7-8D3B-49F2-BE37-457375685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545" y="4606636"/>
                <a:ext cx="221673" cy="221673"/>
              </a:xfrm>
              <a:prstGeom prst="rect">
                <a:avLst/>
              </a:prstGeom>
              <a:blipFill>
                <a:blip r:embed="rId3"/>
                <a:stretch>
                  <a:fillRect l="-38462" r="-23077" b="-34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F774F2-22F4-4130-B887-DFD18F126860}"/>
                  </a:ext>
                </a:extLst>
              </p:cNvPr>
              <p:cNvSpPr/>
              <p:nvPr/>
            </p:nvSpPr>
            <p:spPr>
              <a:xfrm>
                <a:off x="5874327" y="5188528"/>
                <a:ext cx="221673" cy="2216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F774F2-22F4-4130-B887-DFD18F1268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327" y="5188528"/>
                <a:ext cx="221673" cy="221673"/>
              </a:xfrm>
              <a:prstGeom prst="rect">
                <a:avLst/>
              </a:prstGeom>
              <a:blipFill>
                <a:blip r:embed="rId4"/>
                <a:stretch>
                  <a:fillRect l="-42105" r="-26316" b="-30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02B4EB-53CC-4E96-A10C-70051CF4B051}"/>
                  </a:ext>
                </a:extLst>
              </p:cNvPr>
              <p:cNvSpPr/>
              <p:nvPr/>
            </p:nvSpPr>
            <p:spPr>
              <a:xfrm>
                <a:off x="5881253" y="5853547"/>
                <a:ext cx="221673" cy="2216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02B4EB-53CC-4E96-A10C-70051CF4B0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53" y="5853547"/>
                <a:ext cx="221673" cy="221673"/>
              </a:xfrm>
              <a:prstGeom prst="rect">
                <a:avLst/>
              </a:prstGeom>
              <a:blipFill>
                <a:blip r:embed="rId5"/>
                <a:stretch>
                  <a:fillRect l="-42105" r="-26316" b="-30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5C1B4C-44E9-4DF0-8C71-C041B7B198B0}"/>
                  </a:ext>
                </a:extLst>
              </p:cNvPr>
              <p:cNvSpPr/>
              <p:nvPr/>
            </p:nvSpPr>
            <p:spPr>
              <a:xfrm>
                <a:off x="5895111" y="6442366"/>
                <a:ext cx="221673" cy="2216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5C1B4C-44E9-4DF0-8C71-C041B7B198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111" y="6442366"/>
                <a:ext cx="221673" cy="221673"/>
              </a:xfrm>
              <a:prstGeom prst="rect">
                <a:avLst/>
              </a:prstGeom>
              <a:blipFill>
                <a:blip r:embed="rId6"/>
                <a:stretch>
                  <a:fillRect l="-39474" r="-26316" b="-34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9CF2A01-CA03-4010-A474-022E007A16DE}"/>
                  </a:ext>
                </a:extLst>
              </p:cNvPr>
              <p:cNvSpPr/>
              <p:nvPr/>
            </p:nvSpPr>
            <p:spPr>
              <a:xfrm>
                <a:off x="7245927" y="5001491"/>
                <a:ext cx="221673" cy="2216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9CF2A01-CA03-4010-A474-022E007A1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927" y="5001491"/>
                <a:ext cx="221673" cy="221673"/>
              </a:xfrm>
              <a:prstGeom prst="ellipse">
                <a:avLst/>
              </a:prstGeom>
              <a:blipFill>
                <a:blip r:embed="rId7"/>
                <a:stretch>
                  <a:fillRect l="-36842" r="-18421" b="-3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7D01DA-8D26-44D0-B359-035CB9E700BE}"/>
                  </a:ext>
                </a:extLst>
              </p:cNvPr>
              <p:cNvSpPr/>
              <p:nvPr/>
            </p:nvSpPr>
            <p:spPr>
              <a:xfrm>
                <a:off x="7266708" y="5777347"/>
                <a:ext cx="221673" cy="2216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7D01DA-8D26-44D0-B359-035CB9E700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708" y="5777347"/>
                <a:ext cx="221673" cy="221673"/>
              </a:xfrm>
              <a:prstGeom prst="ellipse">
                <a:avLst/>
              </a:prstGeom>
              <a:blipFill>
                <a:blip r:embed="rId8"/>
                <a:stretch>
                  <a:fillRect l="-36842" r="-21053" b="-34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C8F41D-D549-4410-A236-380121AF6EB5}"/>
              </a:ext>
            </a:extLst>
          </p:cNvPr>
          <p:cNvCxnSpPr/>
          <p:nvPr/>
        </p:nvCxnSpPr>
        <p:spPr>
          <a:xfrm>
            <a:off x="6192982" y="4717472"/>
            <a:ext cx="880513" cy="34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F71285-CA68-443B-97CF-BBB17260CC65}"/>
              </a:ext>
            </a:extLst>
          </p:cNvPr>
          <p:cNvCxnSpPr/>
          <p:nvPr/>
        </p:nvCxnSpPr>
        <p:spPr>
          <a:xfrm>
            <a:off x="6192982" y="5417127"/>
            <a:ext cx="880513" cy="34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95EFD6-16BD-48A2-AB5C-43E87DBC7847}"/>
              </a:ext>
            </a:extLst>
          </p:cNvPr>
          <p:cNvCxnSpPr/>
          <p:nvPr/>
        </p:nvCxnSpPr>
        <p:spPr>
          <a:xfrm flipV="1">
            <a:off x="6192982" y="5146965"/>
            <a:ext cx="880513" cy="1108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50ECD7-C773-4941-A6A2-97FB0CD013E5}"/>
              </a:ext>
            </a:extLst>
          </p:cNvPr>
          <p:cNvCxnSpPr/>
          <p:nvPr/>
        </p:nvCxnSpPr>
        <p:spPr>
          <a:xfrm flipV="1">
            <a:off x="6199907" y="5888184"/>
            <a:ext cx="880513" cy="1108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844D8D-D60B-4B38-B3C2-1D3343DD1C03}"/>
              </a:ext>
            </a:extLst>
          </p:cNvPr>
          <p:cNvCxnSpPr/>
          <p:nvPr/>
        </p:nvCxnSpPr>
        <p:spPr>
          <a:xfrm flipV="1">
            <a:off x="6239739" y="5243947"/>
            <a:ext cx="833756" cy="557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0BB399-E012-477E-90ED-45F3C5167D2C}"/>
              </a:ext>
            </a:extLst>
          </p:cNvPr>
          <p:cNvCxnSpPr/>
          <p:nvPr/>
        </p:nvCxnSpPr>
        <p:spPr>
          <a:xfrm flipV="1">
            <a:off x="6253593" y="5953993"/>
            <a:ext cx="833756" cy="557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547C6C-B2DB-41BB-A17C-ADC87B9E6511}"/>
                  </a:ext>
                </a:extLst>
              </p:cNvPr>
              <p:cNvSpPr txBox="1"/>
              <p:nvPr/>
            </p:nvSpPr>
            <p:spPr>
              <a:xfrm>
                <a:off x="6813348" y="3992211"/>
                <a:ext cx="19621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use the same weights and bias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547C6C-B2DB-41BB-A17C-ADC87B9E6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348" y="3992211"/>
                <a:ext cx="1962150" cy="738664"/>
              </a:xfrm>
              <a:prstGeom prst="rect">
                <a:avLst/>
              </a:prstGeom>
              <a:blipFill>
                <a:blip r:embed="rId9"/>
                <a:stretch>
                  <a:fillRect l="-932" t="-1653" r="-2174" b="-74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14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47DE-6A3C-9ADA-0F59-236E1D24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in 1D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8E551-542E-A1E1-56AA-504279AA9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two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defined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&lt;+∞</m:t>
                    </m:r>
                  </m:oMath>
                </a14:m>
                <a:r>
                  <a:rPr lang="en-SG" dirty="0"/>
                  <a:t>.   The convolution is defined as</a:t>
                </a:r>
              </a:p>
              <a:p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SG" dirty="0"/>
              </a:p>
              <a:p>
                <a:r>
                  <a:rPr lang="en-SG" dirty="0"/>
                  <a:t>Convolution theorem: convolution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/>
                  <a:t> is multiplication in the Fourier space: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𝑖𝑘𝑥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8E551-542E-A1E1-56AA-504279AA9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 r="-464" b="-2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16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45CD-C9B4-8F32-A53F-A761A32A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in 2D images</a:t>
            </a:r>
            <a:endParaRPr lang="en-SG" dirty="0"/>
          </a:p>
        </p:txBody>
      </p:sp>
      <p:pic>
        <p:nvPicPr>
          <p:cNvPr id="6" name="Picture 5" descr="A screenshot of a grid&#10;&#10;AI-generated content may be incorrect.">
            <a:extLst>
              <a:ext uri="{FF2B5EF4-FFF2-40B4-BE49-F238E27FC236}">
                <a16:creationId xmlns:a16="http://schemas.microsoft.com/office/drawing/2014/main" id="{F0275379-6CE0-47D8-7B93-2928965B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461" y="3023559"/>
            <a:ext cx="5010150" cy="36576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7677EB-DC2E-58DD-A49E-9310FF957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256400"/>
              </p:ext>
            </p:extLst>
          </p:nvPr>
        </p:nvGraphicFramePr>
        <p:xfrm>
          <a:off x="6147750" y="1957720"/>
          <a:ext cx="1279593" cy="13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325">
                  <a:extLst>
                    <a:ext uri="{9D8B030D-6E8A-4147-A177-3AD203B41FA5}">
                      <a16:colId xmlns:a16="http://schemas.microsoft.com/office/drawing/2014/main" val="606702927"/>
                    </a:ext>
                  </a:extLst>
                </a:gridCol>
                <a:gridCol w="439948">
                  <a:extLst>
                    <a:ext uri="{9D8B030D-6E8A-4147-A177-3AD203B41FA5}">
                      <a16:colId xmlns:a16="http://schemas.microsoft.com/office/drawing/2014/main" val="2611180688"/>
                    </a:ext>
                  </a:extLst>
                </a:gridCol>
                <a:gridCol w="431320">
                  <a:extLst>
                    <a:ext uri="{9D8B030D-6E8A-4147-A177-3AD203B41FA5}">
                      <a16:colId xmlns:a16="http://schemas.microsoft.com/office/drawing/2014/main" val="1523534418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47033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7928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2285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EC0A9D-748D-336D-8C0D-BB798456FEFE}"/>
                  </a:ext>
                </a:extLst>
              </p:cNvPr>
              <p:cNvSpPr txBox="1"/>
              <p:nvPr/>
            </p:nvSpPr>
            <p:spPr>
              <a:xfrm>
                <a:off x="4572000" y="2078966"/>
                <a:ext cx="1279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EC0A9D-748D-336D-8C0D-BB798456F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78966"/>
                <a:ext cx="1279593" cy="369332"/>
              </a:xfrm>
              <a:prstGeom prst="rect">
                <a:avLst/>
              </a:prstGeom>
              <a:blipFill>
                <a:blip r:embed="rId4"/>
                <a:stretch>
                  <a:fillRect l="-3810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EF1412-30B5-05D3-78B1-03B1BDD23D74}"/>
                  </a:ext>
                </a:extLst>
              </p:cNvPr>
              <p:cNvSpPr txBox="1"/>
              <p:nvPr/>
            </p:nvSpPr>
            <p:spPr>
              <a:xfrm>
                <a:off x="3648974" y="5969482"/>
                <a:ext cx="284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EF1412-30B5-05D3-78B1-03B1BDD2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974" y="5969482"/>
                <a:ext cx="284672" cy="461665"/>
              </a:xfrm>
              <a:prstGeom prst="rect">
                <a:avLst/>
              </a:prstGeom>
              <a:blipFill>
                <a:blip r:embed="rId5"/>
                <a:stretch>
                  <a:fillRect l="-6522" r="-10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A2EE7-F5E3-08E1-3B06-26122FD57A30}"/>
                  </a:ext>
                </a:extLst>
              </p:cNvPr>
              <p:cNvSpPr txBox="1"/>
              <p:nvPr/>
            </p:nvSpPr>
            <p:spPr>
              <a:xfrm>
                <a:off x="5776818" y="6147760"/>
                <a:ext cx="425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A2EE7-F5E3-08E1-3B06-26122FD5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818" y="6147760"/>
                <a:ext cx="42557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A7A783-01D4-C1C1-11EE-27F6DB060214}"/>
                  </a:ext>
                </a:extLst>
              </p:cNvPr>
              <p:cNvSpPr txBox="1"/>
              <p:nvPr/>
            </p:nvSpPr>
            <p:spPr>
              <a:xfrm>
                <a:off x="1250830" y="1957720"/>
                <a:ext cx="23981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𝐾𝐼</m:t>
                      </m:r>
                    </m:oMath>
                  </m:oMathPara>
                </a14:m>
                <a:endParaRPr lang="en-SG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A7A783-01D4-C1C1-11EE-27F6DB060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830" y="1957720"/>
                <a:ext cx="2398144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1B1C5A1-6695-A107-70A2-CAF266D6D59D}"/>
              </a:ext>
            </a:extLst>
          </p:cNvPr>
          <p:cNvSpPr txBox="1"/>
          <p:nvPr/>
        </p:nvSpPr>
        <p:spPr>
          <a:xfrm>
            <a:off x="7067779" y="3852074"/>
            <a:ext cx="1751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 size 3, stride 1,</a:t>
            </a:r>
          </a:p>
          <a:p>
            <a:r>
              <a:rPr lang="en-US" dirty="0"/>
              <a:t>padding 0, channel 1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6F089-5809-4C0E-9232-1DC8BE4D48AB}"/>
              </a:ext>
            </a:extLst>
          </p:cNvPr>
          <p:cNvSpPr txBox="1"/>
          <p:nvPr/>
        </p:nvSpPr>
        <p:spPr>
          <a:xfrm>
            <a:off x="6977677" y="5480830"/>
            <a:ext cx="2135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point of CNN is to learn the kernel by training.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8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1646-23E3-5689-1756-CA23BAD3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in neural network (cross correlation)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167C8-17A7-8A12-22EE-338A59806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input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lim>
                              </m:limLow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kernel</m:t>
                                  </m:r>
                                </m:lim>
                              </m:limLow>
                            </m:e>
                          </m:nary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167C8-17A7-8A12-22EE-338A59806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A492BEF-8B4A-1824-64C8-3A9184F2E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" y="2907430"/>
            <a:ext cx="2911146" cy="34044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99E59D-81C1-2A24-079E-DC09068EAFE1}"/>
                  </a:ext>
                </a:extLst>
              </p:cNvPr>
              <p:cNvSpPr txBox="1"/>
              <p:nvPr/>
            </p:nvSpPr>
            <p:spPr>
              <a:xfrm>
                <a:off x="628650" y="6176963"/>
                <a:ext cx="25113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SG" dirty="0"/>
                  <a:t> spans only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SG" dirty="0"/>
                  <a:t> receptive field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99E59D-81C1-2A24-079E-DC09068EA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6176963"/>
                <a:ext cx="2511366" cy="646331"/>
              </a:xfrm>
              <a:prstGeom prst="rect">
                <a:avLst/>
              </a:prstGeom>
              <a:blipFill>
                <a:blip r:embed="rId4"/>
                <a:stretch>
                  <a:fillRect l="-1942" t="-4717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BBA7F14-8CC7-2376-9FD8-6DD4E000D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76" y="3746380"/>
            <a:ext cx="4930720" cy="2102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5D1680-4291-45ED-8E64-9725532EFE9A}"/>
              </a:ext>
            </a:extLst>
          </p:cNvPr>
          <p:cNvSpPr txBox="1"/>
          <p:nvPr/>
        </p:nvSpPr>
        <p:spPr>
          <a:xfrm>
            <a:off x="1443446" y="2671354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202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20E2-A63D-83EF-92C7-6DA73D51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 as discrete derivatives – edge detection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BAC5A-CED8-2156-6A40-CF44ABA77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9398"/>
            <a:ext cx="9144000" cy="2313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2D0222-0609-DEED-CF7B-CE735254D174}"/>
              </a:ext>
            </a:extLst>
          </p:cNvPr>
          <p:cNvSpPr txBox="1"/>
          <p:nvPr/>
        </p:nvSpPr>
        <p:spPr>
          <a:xfrm>
            <a:off x="465826" y="2889849"/>
            <a:ext cx="194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image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FFE41-1CC8-4E2D-5436-AB2C25B19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89" y="2101456"/>
            <a:ext cx="1175485" cy="11958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4DF90A-839D-75E9-DA0B-FBFE22018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679" y="2101455"/>
            <a:ext cx="1247384" cy="1195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095A1-9E71-B3CA-8851-BBD32EC4FAAF}"/>
                  </a:ext>
                </a:extLst>
              </p:cNvPr>
              <p:cNvSpPr txBox="1"/>
              <p:nvPr/>
            </p:nvSpPr>
            <p:spPr>
              <a:xfrm>
                <a:off x="5555411" y="1690689"/>
                <a:ext cx="18460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SG" dirty="0"/>
                  <a:t> kernels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095A1-9E71-B3CA-8851-BBD32EC4F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411" y="1690689"/>
                <a:ext cx="1846053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73F1B40-2138-3FD3-7C6C-753EE2E1C377}"/>
              </a:ext>
            </a:extLst>
          </p:cNvPr>
          <p:cNvSpPr txBox="1"/>
          <p:nvPr/>
        </p:nvSpPr>
        <p:spPr>
          <a:xfrm>
            <a:off x="1733909" y="6055743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Central point of CNN: Kernels are “learned”.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268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37AE-71D4-2C15-2C9E-BC8D3BCF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 and Stride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1EB23-62C2-A8B8-9F8B-BED3AF98C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58" y="2025500"/>
            <a:ext cx="2226245" cy="2280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066841-6436-A01F-E409-9D28F21A8264}"/>
                  </a:ext>
                </a:extLst>
              </p:cNvPr>
              <p:cNvSpPr txBox="1"/>
              <p:nvPr/>
            </p:nvSpPr>
            <p:spPr>
              <a:xfrm>
                <a:off x="3976777" y="2096219"/>
                <a:ext cx="402916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Add sufficient pixels with value 0 so that input and output image has the same size (same padding)</a:t>
                </a:r>
              </a:p>
              <a:p>
                <a:endParaRPr lang="en-US" dirty="0"/>
              </a:p>
              <a:p>
                <a:r>
                  <a:rPr lang="en-US" dirty="0"/>
                  <a:t>If the image dimension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SG" dirty="0"/>
                  <a:t> and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SG" dirty="0"/>
                  <a:t>, padding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SG" dirty="0"/>
                  <a:t> on all sides, the out put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SG" dirty="0"/>
                  <a:t>.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r>
                  <a:rPr lang="en-SG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SG" dirty="0"/>
                  <a:t> odd).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066841-6436-A01F-E409-9D28F21A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777" y="2096219"/>
                <a:ext cx="4029165" cy="2862322"/>
              </a:xfrm>
              <a:prstGeom prst="rect">
                <a:avLst/>
              </a:prstGeom>
              <a:blipFill>
                <a:blip r:embed="rId3"/>
                <a:stretch>
                  <a:fillRect l="-1210" t="-1279" r="-2874" b="-25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0B631-54FE-B3F9-97B8-42DA9BD778A1}"/>
                  </a:ext>
                </a:extLst>
              </p:cNvPr>
              <p:cNvSpPr txBox="1"/>
              <p:nvPr/>
            </p:nvSpPr>
            <p:spPr>
              <a:xfrm>
                <a:off x="966158" y="5236234"/>
                <a:ext cx="38991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Stride: move in steps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800" dirty="0"/>
                  <a:t> for next output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0B631-54FE-B3F9-97B8-42DA9BD7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58" y="5236234"/>
                <a:ext cx="3899140" cy="1384995"/>
              </a:xfrm>
              <a:prstGeom prst="rect">
                <a:avLst/>
              </a:prstGeom>
              <a:blipFill>
                <a:blip r:embed="rId4"/>
                <a:stretch>
                  <a:fillRect l="-3125" t="-4846" b="-114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60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7D2E-5C35-B92A-1E55-B69DE04D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28EA8-52D7-C445-2FDB-200662E3C3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11936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28EA8-52D7-C445-2FDB-200662E3C3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11936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72118A-827F-9677-96FB-CC8BE7280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992" y="3154181"/>
            <a:ext cx="4015498" cy="3528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0BE78E-6E9A-0EA2-5BE4-7E3956B874A9}"/>
                  </a:ext>
                </a:extLst>
              </p:cNvPr>
              <p:cNvSpPr txBox="1"/>
              <p:nvPr/>
            </p:nvSpPr>
            <p:spPr>
              <a:xfrm>
                <a:off x="6254151" y="3269411"/>
                <a:ext cx="247578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dirty="0"/>
                  <a:t>: output,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dirty="0"/>
                  <a:t>: input channel index.</a:t>
                </a:r>
              </a:p>
              <a:p>
                <a:endParaRPr lang="en-SG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height and width of output image indices.</a:t>
                </a:r>
              </a:p>
              <a:p>
                <a:endParaRPr lang="en-SG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SG" dirty="0"/>
                  <a:t> input image indices.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0BE78E-6E9A-0EA2-5BE4-7E3956B87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151" y="3269411"/>
                <a:ext cx="2475781" cy="2585323"/>
              </a:xfrm>
              <a:prstGeom prst="rect">
                <a:avLst/>
              </a:prstGeom>
              <a:blipFill>
                <a:blip r:embed="rId5"/>
                <a:stretch>
                  <a:fillRect l="-2217" t="-1179" b="-28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71F0C-9D9E-97CD-11E4-1E1A47346937}"/>
                  </a:ext>
                </a:extLst>
              </p:cNvPr>
              <p:cNvSpPr txBox="1"/>
              <p:nvPr/>
            </p:nvSpPr>
            <p:spPr>
              <a:xfrm>
                <a:off x="6055743" y="353684"/>
                <a:ext cx="29761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may also add a bias for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SG" dirty="0"/>
                  <a:t>, as well as pass to a nonlinear activation function.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71F0C-9D9E-97CD-11E4-1E1A47346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743" y="353684"/>
                <a:ext cx="2976114" cy="1200329"/>
              </a:xfrm>
              <a:prstGeom prst="rect">
                <a:avLst/>
              </a:prstGeom>
              <a:blipFill>
                <a:blip r:embed="rId6"/>
                <a:stretch>
                  <a:fillRect l="-1636" t="-2538" r="-2045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762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4EDB-1989-48C0-A0B6-9295B9D9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layer in </a:t>
            </a:r>
            <a:r>
              <a:rPr lang="en-US" dirty="0" err="1"/>
              <a:t>pytorch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423-3AF8-4825-BDDF-7DA0C212C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class torch.nn.Conv2d(</a:t>
            </a:r>
            <a:r>
              <a:rPr lang="en-SG" dirty="0" err="1"/>
              <a:t>in_channels</a:t>
            </a:r>
            <a:r>
              <a:rPr lang="en-SG" dirty="0"/>
              <a:t>, </a:t>
            </a:r>
            <a:r>
              <a:rPr lang="en-SG" dirty="0" err="1"/>
              <a:t>out_channels</a:t>
            </a:r>
            <a:r>
              <a:rPr lang="en-SG" dirty="0"/>
              <a:t>, </a:t>
            </a:r>
            <a:r>
              <a:rPr lang="en-SG" dirty="0" err="1"/>
              <a:t>kernel_size</a:t>
            </a:r>
            <a:r>
              <a:rPr lang="en-SG" dirty="0"/>
              <a:t>, stride=1, padding=0, dilation=1, groups=1, bias=True, </a:t>
            </a:r>
            <a:r>
              <a:rPr lang="en-SG" dirty="0" err="1"/>
              <a:t>padding_mode</a:t>
            </a:r>
            <a:r>
              <a:rPr lang="en-SG" dirty="0"/>
              <a:t>='zeros', device=None, </a:t>
            </a:r>
            <a:r>
              <a:rPr lang="en-SG" dirty="0" err="1"/>
              <a:t>dtype</a:t>
            </a:r>
            <a:r>
              <a:rPr lang="en-SG" dirty="0"/>
              <a:t>=None)</a:t>
            </a:r>
          </a:p>
          <a:p>
            <a:endParaRPr lang="en-US" dirty="0"/>
          </a:p>
          <a:p>
            <a:r>
              <a:rPr lang="en-US" dirty="0"/>
              <a:t>E</a:t>
            </a:r>
            <a:r>
              <a:rPr lang="en-SG" dirty="0"/>
              <a:t>.g.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conv = torch.nn.Conv2d(1,1,3)</a:t>
            </a: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38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A971-3FEE-0667-11D5-D1B01D60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C0D6-932D-A409-721C-A3FF2187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28126"/>
          </a:xfrm>
        </p:spPr>
        <p:txBody>
          <a:bodyPr/>
          <a:lstStyle/>
          <a:p>
            <a:r>
              <a:rPr lang="en-US" dirty="0"/>
              <a:t>Purpose: make output invariant with respect to small translation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CA254-49F3-B507-6042-48E7C044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37" y="3804250"/>
            <a:ext cx="5210475" cy="2475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6BD85-F575-B39D-21A3-89A9B7148059}"/>
              </a:ext>
            </a:extLst>
          </p:cNvPr>
          <p:cNvSpPr txBox="1"/>
          <p:nvPr/>
        </p:nvSpPr>
        <p:spPr>
          <a:xfrm>
            <a:off x="2967485" y="2838094"/>
            <a:ext cx="243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max pool</a:t>
            </a:r>
            <a:endParaRPr lang="en-SG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5FFC0-CA6C-4234-62F0-17B23C7D4949}"/>
              </a:ext>
            </a:extLst>
          </p:cNvPr>
          <p:cNvSpPr txBox="1"/>
          <p:nvPr/>
        </p:nvSpPr>
        <p:spPr>
          <a:xfrm>
            <a:off x="7289321" y="3942272"/>
            <a:ext cx="1388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: 2</a:t>
            </a:r>
          </a:p>
          <a:p>
            <a:r>
              <a:rPr lang="en-US" dirty="0"/>
              <a:t>Stride: 2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EFA84-D683-4CCE-84C2-2BC2C48614A0}"/>
              </a:ext>
            </a:extLst>
          </p:cNvPr>
          <p:cNvSpPr txBox="1"/>
          <p:nvPr/>
        </p:nvSpPr>
        <p:spPr>
          <a:xfrm>
            <a:off x="6816900" y="5739362"/>
            <a:ext cx="2083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Compare: renormalization group transform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758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6504-89A0-AAE7-F301-559AF66D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Multiple-layer convolution to increase range of locality 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099C7-25F8-7F98-E919-A225D8167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69" y="2201515"/>
            <a:ext cx="3825501" cy="4060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6E4DE-9EC8-2E67-D67B-323F8EFB6D00}"/>
              </a:ext>
            </a:extLst>
          </p:cNvPr>
          <p:cNvSpPr txBox="1"/>
          <p:nvPr/>
        </p:nvSpPr>
        <p:spPr>
          <a:xfrm>
            <a:off x="6021238" y="2225615"/>
            <a:ext cx="21738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Effective receptive field grows with depth in a multilayer convolutional network.  Increase by 2 each time we do deeper by 1 layer.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399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5017-A159-470B-EC60-A4E39174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CNN architecture, VGG-16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6C845-DD61-D2D0-471E-36D3A0238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9" y="1975692"/>
            <a:ext cx="8420289" cy="4312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C9627A-89EF-807C-CA9D-E213972CCFED}"/>
              </a:ext>
            </a:extLst>
          </p:cNvPr>
          <p:cNvSpPr txBox="1"/>
          <p:nvPr/>
        </p:nvSpPr>
        <p:spPr>
          <a:xfrm>
            <a:off x="2441275" y="2191109"/>
            <a:ext cx="144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H    W   C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A1930-9C55-92ED-EE42-467B6F7BEE0B}"/>
              </a:ext>
            </a:extLst>
          </p:cNvPr>
          <p:cNvSpPr txBox="1"/>
          <p:nvPr/>
        </p:nvSpPr>
        <p:spPr>
          <a:xfrm>
            <a:off x="6487064" y="1570008"/>
            <a:ext cx="2028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H: height</a:t>
            </a:r>
          </a:p>
          <a:p>
            <a:r>
              <a:rPr lang="en-US" dirty="0"/>
              <a:t>W: width</a:t>
            </a:r>
          </a:p>
          <a:p>
            <a:r>
              <a:rPr lang="en-US" dirty="0"/>
              <a:t>C: channel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7C3CAB-0C35-4DA5-B20A-6E63C74D8E9D}"/>
                  </a:ext>
                </a:extLst>
              </p:cNvPr>
              <p:cNvSpPr txBox="1"/>
              <p:nvPr/>
            </p:nvSpPr>
            <p:spPr>
              <a:xfrm>
                <a:off x="3138055" y="6061364"/>
                <a:ext cx="21266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Total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1.4×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SG" dirty="0"/>
                  <a:t> parameters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7C3CAB-0C35-4DA5-B20A-6E63C74D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55" y="6061364"/>
                <a:ext cx="2126672" cy="646331"/>
              </a:xfrm>
              <a:prstGeom prst="rect">
                <a:avLst/>
              </a:prstGeom>
              <a:blipFill>
                <a:blip r:embed="rId3"/>
                <a:stretch>
                  <a:fillRect l="-2579" t="-4717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129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104C-C27E-47F8-9A1A-0A3F5093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and </a:t>
            </a:r>
            <a:r>
              <a:rPr lang="en-US" dirty="0" err="1"/>
              <a:t>chatGPT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011D2-38CD-4FC4-90C1-C8ACEC6B5429}"/>
              </a:ext>
            </a:extLst>
          </p:cNvPr>
          <p:cNvSpPr txBox="1"/>
          <p:nvPr/>
        </p:nvSpPr>
        <p:spPr>
          <a:xfrm>
            <a:off x="1044470" y="6123542"/>
            <a:ext cx="516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linkClick r:id="rId2"/>
              </a:rPr>
              <a:t>https://youtu.be/UZDiGooFs54</a:t>
            </a:r>
            <a:r>
              <a:rPr lang="en-SG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09FD6-12C7-415D-8ED3-F34B85ED910C}"/>
              </a:ext>
            </a:extLst>
          </p:cNvPr>
          <p:cNvSpPr/>
          <p:nvPr/>
        </p:nvSpPr>
        <p:spPr>
          <a:xfrm>
            <a:off x="2334888" y="169068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moment we stopped understanding AI [</a:t>
            </a:r>
            <a:r>
              <a:rPr lang="en-US" dirty="0" err="1"/>
              <a:t>AlexNet</a:t>
            </a:r>
            <a:r>
              <a:rPr lang="en-US" dirty="0"/>
              <a:t>]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CBB35F-472B-4CD4-9DD3-C80B5D379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343" y="2619443"/>
            <a:ext cx="5881057" cy="322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9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4C1E-22B0-4744-9911-0CC195F7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deep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CF0B-C740-4D26-BC94-18E047347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shattered gradients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vanishing or exploding gradients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05E0C-2499-4EC3-99BE-7474FADE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9" y="2473529"/>
            <a:ext cx="5832566" cy="2377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E20E84-89B5-4AD4-81A1-3891BEFF3468}"/>
              </a:ext>
            </a:extLst>
          </p:cNvPr>
          <p:cNvSpPr txBox="1"/>
          <p:nvPr/>
        </p:nvSpPr>
        <p:spPr>
          <a:xfrm>
            <a:off x="7602583" y="2473529"/>
            <a:ext cx="13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Bishop, “Deep Learning”, p. 274.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939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82C9-A44C-4614-AA0C-19DBB1A0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connections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39B1B-13D8-4E80-84D1-46CBA9F4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388"/>
            <a:ext cx="9144000" cy="1695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6BE232-A7FF-42DE-946A-7E0C87C2EB89}"/>
                  </a:ext>
                </a:extLst>
              </p:cNvPr>
              <p:cNvSpPr txBox="1"/>
              <p:nvPr/>
            </p:nvSpPr>
            <p:spPr>
              <a:xfrm>
                <a:off x="803366" y="3716383"/>
                <a:ext cx="779199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6BE232-A7FF-42DE-946A-7E0C87C2E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66" y="3716383"/>
                <a:ext cx="7791994" cy="1384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444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42FC-E54A-4BB2-ABC4-48449F12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normalization/Layer normalization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4179C-9F3E-48A2-BEB2-697A499E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144" y="1847444"/>
            <a:ext cx="5721529" cy="2984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3C1CF9-74EF-4A91-9A59-58B5EE266997}"/>
                  </a:ext>
                </a:extLst>
              </p:cNvPr>
              <p:cNvSpPr txBox="1"/>
              <p:nvPr/>
            </p:nvSpPr>
            <p:spPr>
              <a:xfrm>
                <a:off x="1805939" y="3940590"/>
                <a:ext cx="25537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SG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3C1CF9-74EF-4A91-9A59-58B5EE266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39" y="3940590"/>
                <a:ext cx="2553789" cy="369332"/>
              </a:xfrm>
              <a:prstGeom prst="rect">
                <a:avLst/>
              </a:prstGeom>
              <a:blipFill>
                <a:blip r:embed="rId4"/>
                <a:stretch>
                  <a:fillRect t="-3279" b="-163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4B07E9-3E62-46F8-8510-4647C177637E}"/>
                  </a:ext>
                </a:extLst>
              </p:cNvPr>
              <p:cNvSpPr txBox="1"/>
              <p:nvPr/>
            </p:nvSpPr>
            <p:spPr>
              <a:xfrm>
                <a:off x="437608" y="4887461"/>
                <a:ext cx="4846320" cy="197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(a) Batch normalization: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4B07E9-3E62-46F8-8510-4647C1776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08" y="4887461"/>
                <a:ext cx="4846320" cy="1970539"/>
              </a:xfrm>
              <a:prstGeom prst="rect">
                <a:avLst/>
              </a:prstGeom>
              <a:blipFill>
                <a:blip r:embed="rId5"/>
                <a:stretch>
                  <a:fillRect l="-1132" t="-19505" r="-50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3F0D27-741A-464B-8033-6710F27F7B33}"/>
              </a:ext>
            </a:extLst>
          </p:cNvPr>
          <p:cNvCxnSpPr/>
          <p:nvPr/>
        </p:nvCxnSpPr>
        <p:spPr>
          <a:xfrm>
            <a:off x="1392826" y="2475410"/>
            <a:ext cx="0" cy="90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1B180B-7323-4EA9-A0EE-E69DCCED647B}"/>
              </a:ext>
            </a:extLst>
          </p:cNvPr>
          <p:cNvCxnSpPr/>
          <p:nvPr/>
        </p:nvCxnSpPr>
        <p:spPr>
          <a:xfrm>
            <a:off x="2410097" y="3664131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6E0CBB-854B-45F6-9471-FC2A961D2A0A}"/>
                  </a:ext>
                </a:extLst>
              </p:cNvPr>
              <p:cNvSpPr txBox="1"/>
              <p:nvPr/>
            </p:nvSpPr>
            <p:spPr>
              <a:xfrm>
                <a:off x="1534885" y="2717073"/>
                <a:ext cx="2285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6E0CBB-854B-45F6-9471-FC2A961D2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885" y="2717073"/>
                <a:ext cx="228597" cy="369332"/>
              </a:xfrm>
              <a:prstGeom prst="rect">
                <a:avLst/>
              </a:prstGeom>
              <a:blipFill>
                <a:blip r:embed="rId6"/>
                <a:stretch>
                  <a:fillRect r="-108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845A48-0100-4DBC-B942-F74E2096BE93}"/>
                  </a:ext>
                </a:extLst>
              </p:cNvPr>
              <p:cNvSpPr txBox="1"/>
              <p:nvPr/>
            </p:nvSpPr>
            <p:spPr>
              <a:xfrm>
                <a:off x="2645230" y="3357156"/>
                <a:ext cx="215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845A48-0100-4DBC-B942-F74E2096B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230" y="3357156"/>
                <a:ext cx="215538" cy="369332"/>
              </a:xfrm>
              <a:prstGeom prst="rect">
                <a:avLst/>
              </a:prstGeom>
              <a:blipFill>
                <a:blip r:embed="rId7"/>
                <a:stretch>
                  <a:fillRect r="-342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98722-5A43-4F43-B829-378D05ECF70C}"/>
                  </a:ext>
                </a:extLst>
              </p:cNvPr>
              <p:cNvSpPr txBox="1"/>
              <p:nvPr/>
            </p:nvSpPr>
            <p:spPr>
              <a:xfrm>
                <a:off x="6480808" y="4831615"/>
                <a:ext cx="2225584" cy="182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(b) For layer normalization, we sum over hidden units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 for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SG" dirty="0"/>
                  <a:t> and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98722-5A43-4F43-B829-378D05ECF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808" y="4831615"/>
                <a:ext cx="2225584" cy="1821140"/>
              </a:xfrm>
              <a:prstGeom prst="rect">
                <a:avLst/>
              </a:prstGeom>
              <a:blipFill>
                <a:blip r:embed="rId8"/>
                <a:stretch>
                  <a:fillRect l="-2192" t="-2013" r="-3014" b="-10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600F7C-921E-9195-41AB-A1B577281FC5}"/>
                  </a:ext>
                </a:extLst>
              </p:cNvPr>
              <p:cNvSpPr txBox="1"/>
              <p:nvPr/>
            </p:nvSpPr>
            <p:spPr>
              <a:xfrm>
                <a:off x="7504889" y="2687892"/>
                <a:ext cx="646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600F7C-921E-9195-41AB-A1B577281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89" y="2687892"/>
                <a:ext cx="6468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6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1788</TotalTime>
  <Words>821</Words>
  <Application>Microsoft Office PowerPoint</Application>
  <PresentationFormat>On-screen Show (4:3)</PresentationFormat>
  <Paragraphs>135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Verdana</vt:lpstr>
      <vt:lpstr>Office Theme</vt:lpstr>
      <vt:lpstr>Week 7,   Convolutional Neural Network (CNN)</vt:lpstr>
      <vt:lpstr>What deep network can do?</vt:lpstr>
      <vt:lpstr>MLP and inductive bias</vt:lpstr>
      <vt:lpstr>Inductive biases for image processing in CNN</vt:lpstr>
      <vt:lpstr>Convolution in 1D</vt:lpstr>
      <vt:lpstr>Convolution in 2D images</vt:lpstr>
      <vt:lpstr>Convolution in neural network (cross correlation)</vt:lpstr>
      <vt:lpstr>Convolution as discrete derivatives – edge detection</vt:lpstr>
      <vt:lpstr>Padding and Stride</vt:lpstr>
      <vt:lpstr>Channels </vt:lpstr>
      <vt:lpstr>Convolution layer in pytorch</vt:lpstr>
      <vt:lpstr>Pooling </vt:lpstr>
      <vt:lpstr>Multiple-layer convolution to increase range of locality </vt:lpstr>
      <vt:lpstr>Typical CNN architecture, VGG-16</vt:lpstr>
      <vt:lpstr>AlexNet and chatGPT</vt:lpstr>
      <vt:lpstr>Problem with deep network</vt:lpstr>
      <vt:lpstr>Residual connections</vt:lpstr>
      <vt:lpstr>Batch normalization/Layer normalization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AIS5203 Foundations of Deep Learning</dc:title>
  <dc:creator>Wang Jian-Sheng</dc:creator>
  <cp:lastModifiedBy>Wang Jian-Sheng</cp:lastModifiedBy>
  <cp:revision>119</cp:revision>
  <dcterms:created xsi:type="dcterms:W3CDTF">2021-10-08T06:30:06Z</dcterms:created>
  <dcterms:modified xsi:type="dcterms:W3CDTF">2026-03-27T02:37:37Z</dcterms:modified>
</cp:coreProperties>
</file>