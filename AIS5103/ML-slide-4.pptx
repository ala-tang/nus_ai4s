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8" r:id="rId2"/>
    <p:sldId id="259" r:id="rId3"/>
    <p:sldId id="260" r:id="rId4"/>
    <p:sldId id="261" r:id="rId5"/>
    <p:sldId id="263" r:id="rId6"/>
    <p:sldId id="268" r:id="rId7"/>
    <p:sldId id="289" r:id="rId8"/>
    <p:sldId id="264" r:id="rId9"/>
    <p:sldId id="265" r:id="rId10"/>
    <p:sldId id="266" r:id="rId11"/>
    <p:sldId id="267" r:id="rId12"/>
    <p:sldId id="28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88" r:id="rId22"/>
    <p:sldId id="278" r:id="rId23"/>
    <p:sldId id="279" r:id="rId24"/>
    <p:sldId id="280" r:id="rId25"/>
    <p:sldId id="277" r:id="rId26"/>
    <p:sldId id="281" r:id="rId27"/>
    <p:sldId id="282" r:id="rId28"/>
    <p:sldId id="283" r:id="rId29"/>
    <p:sldId id="284" r:id="rId30"/>
    <p:sldId id="290" r:id="rId31"/>
    <p:sldId id="285" r:id="rId32"/>
    <p:sldId id="286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5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 Jian-Sheng" userId="7d25d710-0931-49a3-acef-49192cec40f2" providerId="ADAL" clId="{88EC0591-7A8D-40A0-91DB-CB376E3C8592}"/>
    <pc:docChg chg="custSel modSld">
      <pc:chgData name="Wang Jian-Sheng" userId="7d25d710-0931-49a3-acef-49192cec40f2" providerId="ADAL" clId="{88EC0591-7A8D-40A0-91DB-CB376E3C8592}" dt="2026-02-10T03:32:48.172" v="1825" actId="1076"/>
      <pc:docMkLst>
        <pc:docMk/>
      </pc:docMkLst>
      <pc:sldChg chg="modNotesTx">
        <pc:chgData name="Wang Jian-Sheng" userId="7d25d710-0931-49a3-acef-49192cec40f2" providerId="ADAL" clId="{88EC0591-7A8D-40A0-91DB-CB376E3C8592}" dt="2026-01-26T03:13:17.079" v="61" actId="20577"/>
        <pc:sldMkLst>
          <pc:docMk/>
          <pc:sldMk cId="2153188837" sldId="258"/>
        </pc:sldMkLst>
      </pc:sldChg>
      <pc:sldChg chg="addSp modSp modNotesTx">
        <pc:chgData name="Wang Jian-Sheng" userId="7d25d710-0931-49a3-acef-49192cec40f2" providerId="ADAL" clId="{88EC0591-7A8D-40A0-91DB-CB376E3C8592}" dt="2026-02-10T03:32:48.172" v="1825" actId="1076"/>
        <pc:sldMkLst>
          <pc:docMk/>
          <pc:sldMk cId="3184949721" sldId="259"/>
        </pc:sldMkLst>
        <pc:spChg chg="mod">
          <ac:chgData name="Wang Jian-Sheng" userId="7d25d710-0931-49a3-acef-49192cec40f2" providerId="ADAL" clId="{88EC0591-7A8D-40A0-91DB-CB376E3C8592}" dt="2026-02-05T02:35:34.160" v="740" actId="113"/>
          <ac:spMkLst>
            <pc:docMk/>
            <pc:sldMk cId="3184949721" sldId="259"/>
            <ac:spMk id="3" creationId="{C6082E5F-294A-4CDC-98DD-6AAA43B60DDD}"/>
          </ac:spMkLst>
        </pc:spChg>
        <pc:spChg chg="add mod">
          <ac:chgData name="Wang Jian-Sheng" userId="7d25d710-0931-49a3-acef-49192cec40f2" providerId="ADAL" clId="{88EC0591-7A8D-40A0-91DB-CB376E3C8592}" dt="2026-02-10T03:32:48.172" v="1825" actId="1076"/>
          <ac:spMkLst>
            <pc:docMk/>
            <pc:sldMk cId="3184949721" sldId="259"/>
            <ac:spMk id="6" creationId="{7D6F4B72-0551-46B0-85A2-657272C3404D}"/>
          </ac:spMkLst>
        </pc:spChg>
        <pc:picChg chg="ord">
          <ac:chgData name="Wang Jian-Sheng" userId="7d25d710-0931-49a3-acef-49192cec40f2" providerId="ADAL" clId="{88EC0591-7A8D-40A0-91DB-CB376E3C8592}" dt="2026-01-26T03:14:04.107" v="62" actId="167"/>
          <ac:picMkLst>
            <pc:docMk/>
            <pc:sldMk cId="3184949721" sldId="259"/>
            <ac:picMk id="4" creationId="{ACEBC722-A24C-472A-97C9-A2A053B4FAB6}"/>
          </ac:picMkLst>
        </pc:picChg>
      </pc:sldChg>
      <pc:sldChg chg="addSp modSp">
        <pc:chgData name="Wang Jian-Sheng" userId="7d25d710-0931-49a3-acef-49192cec40f2" providerId="ADAL" clId="{88EC0591-7A8D-40A0-91DB-CB376E3C8592}" dt="2026-01-26T03:17:32.010" v="187" actId="1037"/>
        <pc:sldMkLst>
          <pc:docMk/>
          <pc:sldMk cId="659649458" sldId="260"/>
        </pc:sldMkLst>
        <pc:spChg chg="add mod">
          <ac:chgData name="Wang Jian-Sheng" userId="7d25d710-0931-49a3-acef-49192cec40f2" providerId="ADAL" clId="{88EC0591-7A8D-40A0-91DB-CB376E3C8592}" dt="2026-01-26T03:17:32.010" v="187" actId="1037"/>
          <ac:spMkLst>
            <pc:docMk/>
            <pc:sldMk cId="659649458" sldId="260"/>
            <ac:spMk id="17" creationId="{861B98E2-FC1F-4344-B770-82C395751EEF}"/>
          </ac:spMkLst>
        </pc:spChg>
        <pc:spChg chg="add mod">
          <ac:chgData name="Wang Jian-Sheng" userId="7d25d710-0931-49a3-acef-49192cec40f2" providerId="ADAL" clId="{88EC0591-7A8D-40A0-91DB-CB376E3C8592}" dt="2026-01-26T03:17:15.274" v="158" actId="20577"/>
          <ac:spMkLst>
            <pc:docMk/>
            <pc:sldMk cId="659649458" sldId="260"/>
            <ac:spMk id="42" creationId="{71945797-8E4A-4879-9525-E5B3E2BA3223}"/>
          </ac:spMkLst>
        </pc:spChg>
      </pc:sldChg>
      <pc:sldChg chg="modNotesTx">
        <pc:chgData name="Wang Jian-Sheng" userId="7d25d710-0931-49a3-acef-49192cec40f2" providerId="ADAL" clId="{88EC0591-7A8D-40A0-91DB-CB376E3C8592}" dt="2026-02-02T02:54:48.960" v="483" actId="20577"/>
        <pc:sldMkLst>
          <pc:docMk/>
          <pc:sldMk cId="268862705" sldId="261"/>
        </pc:sldMkLst>
      </pc:sldChg>
      <pc:sldChg chg="addSp modSp">
        <pc:chgData name="Wang Jian-Sheng" userId="7d25d710-0931-49a3-acef-49192cec40f2" providerId="ADAL" clId="{88EC0591-7A8D-40A0-91DB-CB376E3C8592}" dt="2026-01-26T03:19:47.730" v="200" actId="1076"/>
        <pc:sldMkLst>
          <pc:docMk/>
          <pc:sldMk cId="1898745113" sldId="263"/>
        </pc:sldMkLst>
        <pc:spChg chg="add mod">
          <ac:chgData name="Wang Jian-Sheng" userId="7d25d710-0931-49a3-acef-49192cec40f2" providerId="ADAL" clId="{88EC0591-7A8D-40A0-91DB-CB376E3C8592}" dt="2026-01-26T03:19:47.730" v="200" actId="1076"/>
          <ac:spMkLst>
            <pc:docMk/>
            <pc:sldMk cId="1898745113" sldId="263"/>
            <ac:spMk id="4" creationId="{4B506379-5A6B-43BB-961C-8533DFF65A6A}"/>
          </ac:spMkLst>
        </pc:spChg>
      </pc:sldChg>
      <pc:sldChg chg="addSp modSp">
        <pc:chgData name="Wang Jian-Sheng" userId="7d25d710-0931-49a3-acef-49192cec40f2" providerId="ADAL" clId="{88EC0591-7A8D-40A0-91DB-CB376E3C8592}" dt="2026-02-04T03:12:27.003" v="739" actId="1076"/>
        <pc:sldMkLst>
          <pc:docMk/>
          <pc:sldMk cId="814188105" sldId="264"/>
        </pc:sldMkLst>
        <pc:spChg chg="add mod">
          <ac:chgData name="Wang Jian-Sheng" userId="7d25d710-0931-49a3-acef-49192cec40f2" providerId="ADAL" clId="{88EC0591-7A8D-40A0-91DB-CB376E3C8592}" dt="2026-02-04T03:12:27.003" v="739" actId="1076"/>
          <ac:spMkLst>
            <pc:docMk/>
            <pc:sldMk cId="814188105" sldId="264"/>
            <ac:spMk id="3" creationId="{C0CD3749-C67D-44CF-AE8A-A1CE813C67D6}"/>
          </ac:spMkLst>
        </pc:spChg>
      </pc:sldChg>
      <pc:sldChg chg="modSp">
        <pc:chgData name="Wang Jian-Sheng" userId="7d25d710-0931-49a3-acef-49192cec40f2" providerId="ADAL" clId="{88EC0591-7A8D-40A0-91DB-CB376E3C8592}" dt="2026-02-02T02:59:21.929" v="493" actId="20577"/>
        <pc:sldMkLst>
          <pc:docMk/>
          <pc:sldMk cId="1323109857" sldId="265"/>
        </pc:sldMkLst>
        <pc:spChg chg="mod">
          <ac:chgData name="Wang Jian-Sheng" userId="7d25d710-0931-49a3-acef-49192cec40f2" providerId="ADAL" clId="{88EC0591-7A8D-40A0-91DB-CB376E3C8592}" dt="2026-02-02T02:59:21.929" v="493" actId="20577"/>
          <ac:spMkLst>
            <pc:docMk/>
            <pc:sldMk cId="1323109857" sldId="265"/>
            <ac:spMk id="3" creationId="{AF4BC0E4-7D64-404F-B972-B003741A6EA4}"/>
          </ac:spMkLst>
        </pc:spChg>
      </pc:sldChg>
      <pc:sldChg chg="modSp modNotesTx">
        <pc:chgData name="Wang Jian-Sheng" userId="7d25d710-0931-49a3-acef-49192cec40f2" providerId="ADAL" clId="{88EC0591-7A8D-40A0-91DB-CB376E3C8592}" dt="2026-02-02T03:05:13.230" v="596" actId="20577"/>
        <pc:sldMkLst>
          <pc:docMk/>
          <pc:sldMk cId="1129314448" sldId="266"/>
        </pc:sldMkLst>
        <pc:spChg chg="mod">
          <ac:chgData name="Wang Jian-Sheng" userId="7d25d710-0931-49a3-acef-49192cec40f2" providerId="ADAL" clId="{88EC0591-7A8D-40A0-91DB-CB376E3C8592}" dt="2026-02-02T03:05:13.230" v="596" actId="20577"/>
          <ac:spMkLst>
            <pc:docMk/>
            <pc:sldMk cId="1129314448" sldId="266"/>
            <ac:spMk id="3" creationId="{CCEAE6A0-C5CC-45D5-9FE8-BF94B015106F}"/>
          </ac:spMkLst>
        </pc:spChg>
      </pc:sldChg>
      <pc:sldChg chg="addSp modSp">
        <pc:chgData name="Wang Jian-Sheng" userId="7d25d710-0931-49a3-acef-49192cec40f2" providerId="ADAL" clId="{88EC0591-7A8D-40A0-91DB-CB376E3C8592}" dt="2026-02-02T03:07:32.312" v="597" actId="113"/>
        <pc:sldMkLst>
          <pc:docMk/>
          <pc:sldMk cId="250351823" sldId="267"/>
        </pc:sldMkLst>
        <pc:spChg chg="mod">
          <ac:chgData name="Wang Jian-Sheng" userId="7d25d710-0931-49a3-acef-49192cec40f2" providerId="ADAL" clId="{88EC0591-7A8D-40A0-91DB-CB376E3C8592}" dt="2026-02-02T03:07:32.312" v="597" actId="113"/>
          <ac:spMkLst>
            <pc:docMk/>
            <pc:sldMk cId="250351823" sldId="267"/>
            <ac:spMk id="3" creationId="{861C7673-D799-48BD-AEEE-0E22C5D201F1}"/>
          </ac:spMkLst>
        </pc:spChg>
        <pc:spChg chg="add mod">
          <ac:chgData name="Wang Jian-Sheng" userId="7d25d710-0931-49a3-acef-49192cec40f2" providerId="ADAL" clId="{88EC0591-7A8D-40A0-91DB-CB376E3C8592}" dt="2026-01-29T03:15:34.121" v="337" actId="1076"/>
          <ac:spMkLst>
            <pc:docMk/>
            <pc:sldMk cId="250351823" sldId="267"/>
            <ac:spMk id="4" creationId="{CEC76444-2017-4889-A5E3-C1BEE06A8B63}"/>
          </ac:spMkLst>
        </pc:spChg>
      </pc:sldChg>
      <pc:sldChg chg="modSp">
        <pc:chgData name="Wang Jian-Sheng" userId="7d25d710-0931-49a3-acef-49192cec40f2" providerId="ADAL" clId="{88EC0591-7A8D-40A0-91DB-CB376E3C8592}" dt="2026-01-29T03:12:22.815" v="321" actId="20577"/>
        <pc:sldMkLst>
          <pc:docMk/>
          <pc:sldMk cId="2622307171" sldId="268"/>
        </pc:sldMkLst>
        <pc:spChg chg="mod">
          <ac:chgData name="Wang Jian-Sheng" userId="7d25d710-0931-49a3-acef-49192cec40f2" providerId="ADAL" clId="{88EC0591-7A8D-40A0-91DB-CB376E3C8592}" dt="2026-01-26T03:21:30.283" v="211" actId="5793"/>
          <ac:spMkLst>
            <pc:docMk/>
            <pc:sldMk cId="2622307171" sldId="268"/>
            <ac:spMk id="3" creationId="{81673488-6B40-48B2-B8D2-A7161D75C237}"/>
          </ac:spMkLst>
        </pc:spChg>
        <pc:spChg chg="mod">
          <ac:chgData name="Wang Jian-Sheng" userId="7d25d710-0931-49a3-acef-49192cec40f2" providerId="ADAL" clId="{88EC0591-7A8D-40A0-91DB-CB376E3C8592}" dt="2026-01-29T03:12:22.815" v="321" actId="20577"/>
          <ac:spMkLst>
            <pc:docMk/>
            <pc:sldMk cId="2622307171" sldId="268"/>
            <ac:spMk id="7" creationId="{E62A4647-D593-4A7D-A7EF-6F755C434BEA}"/>
          </ac:spMkLst>
        </pc:spChg>
        <pc:picChg chg="ord">
          <ac:chgData name="Wang Jian-Sheng" userId="7d25d710-0931-49a3-acef-49192cec40f2" providerId="ADAL" clId="{88EC0591-7A8D-40A0-91DB-CB376E3C8592}" dt="2026-01-26T03:30:15.100" v="212" actId="167"/>
          <ac:picMkLst>
            <pc:docMk/>
            <pc:sldMk cId="2622307171" sldId="268"/>
            <ac:picMk id="6" creationId="{148ACC69-1F92-4C44-BAD0-08986DCE9277}"/>
          </ac:picMkLst>
        </pc:picChg>
      </pc:sldChg>
      <pc:sldChg chg="modSp">
        <pc:chgData name="Wang Jian-Sheng" userId="7d25d710-0931-49a3-acef-49192cec40f2" providerId="ADAL" clId="{88EC0591-7A8D-40A0-91DB-CB376E3C8592}" dt="2026-02-10T03:01:24.276" v="1302" actId="20577"/>
        <pc:sldMkLst>
          <pc:docMk/>
          <pc:sldMk cId="3816123203" sldId="270"/>
        </pc:sldMkLst>
        <pc:spChg chg="mod">
          <ac:chgData name="Wang Jian-Sheng" userId="7d25d710-0931-49a3-acef-49192cec40f2" providerId="ADAL" clId="{88EC0591-7A8D-40A0-91DB-CB376E3C8592}" dt="2026-02-10T03:01:24.276" v="1302" actId="20577"/>
          <ac:spMkLst>
            <pc:docMk/>
            <pc:sldMk cId="3816123203" sldId="270"/>
            <ac:spMk id="3" creationId="{33EE9964-8032-4137-B062-B608CF105BDC}"/>
          </ac:spMkLst>
        </pc:spChg>
      </pc:sldChg>
      <pc:sldChg chg="modSp modNotesTx">
        <pc:chgData name="Wang Jian-Sheng" userId="7d25d710-0931-49a3-acef-49192cec40f2" providerId="ADAL" clId="{88EC0591-7A8D-40A0-91DB-CB376E3C8592}" dt="2026-02-10T03:03:40.393" v="1382" actId="20577"/>
        <pc:sldMkLst>
          <pc:docMk/>
          <pc:sldMk cId="1880296709" sldId="271"/>
        </pc:sldMkLst>
        <pc:spChg chg="mod">
          <ac:chgData name="Wang Jian-Sheng" userId="7d25d710-0931-49a3-acef-49192cec40f2" providerId="ADAL" clId="{88EC0591-7A8D-40A0-91DB-CB376E3C8592}" dt="2026-02-10T03:02:54.141" v="1324" actId="20577"/>
          <ac:spMkLst>
            <pc:docMk/>
            <pc:sldMk cId="1880296709" sldId="271"/>
            <ac:spMk id="3" creationId="{60929B98-5EE9-4783-94EF-819B610CB322}"/>
          </ac:spMkLst>
        </pc:spChg>
      </pc:sldChg>
      <pc:sldChg chg="modNotesTx">
        <pc:chgData name="Wang Jian-Sheng" userId="7d25d710-0931-49a3-acef-49192cec40f2" providerId="ADAL" clId="{88EC0591-7A8D-40A0-91DB-CB376E3C8592}" dt="2026-02-10T03:05:17.963" v="1412" actId="20577"/>
        <pc:sldMkLst>
          <pc:docMk/>
          <pc:sldMk cId="3715689616" sldId="272"/>
        </pc:sldMkLst>
      </pc:sldChg>
      <pc:sldChg chg="modSp">
        <pc:chgData name="Wang Jian-Sheng" userId="7d25d710-0931-49a3-acef-49192cec40f2" providerId="ADAL" clId="{88EC0591-7A8D-40A0-91DB-CB376E3C8592}" dt="2026-02-10T03:07:25.351" v="1439" actId="20577"/>
        <pc:sldMkLst>
          <pc:docMk/>
          <pc:sldMk cId="3094380492" sldId="273"/>
        </pc:sldMkLst>
        <pc:spChg chg="mod">
          <ac:chgData name="Wang Jian-Sheng" userId="7d25d710-0931-49a3-acef-49192cec40f2" providerId="ADAL" clId="{88EC0591-7A8D-40A0-91DB-CB376E3C8592}" dt="2026-02-10T03:07:25.351" v="1439" actId="20577"/>
          <ac:spMkLst>
            <pc:docMk/>
            <pc:sldMk cId="3094380492" sldId="273"/>
            <ac:spMk id="3" creationId="{B32043E3-3497-4F0F-9FA9-8289529110D5}"/>
          </ac:spMkLst>
        </pc:spChg>
      </pc:sldChg>
      <pc:sldChg chg="modSp">
        <pc:chgData name="Wang Jian-Sheng" userId="7d25d710-0931-49a3-acef-49192cec40f2" providerId="ADAL" clId="{88EC0591-7A8D-40A0-91DB-CB376E3C8592}" dt="2026-02-10T03:08:49.319" v="1444" actId="20577"/>
        <pc:sldMkLst>
          <pc:docMk/>
          <pc:sldMk cId="2520743295" sldId="275"/>
        </pc:sldMkLst>
        <pc:spChg chg="mod">
          <ac:chgData name="Wang Jian-Sheng" userId="7d25d710-0931-49a3-acef-49192cec40f2" providerId="ADAL" clId="{88EC0591-7A8D-40A0-91DB-CB376E3C8592}" dt="2026-02-10T03:08:49.319" v="1444" actId="20577"/>
          <ac:spMkLst>
            <pc:docMk/>
            <pc:sldMk cId="2520743295" sldId="275"/>
            <ac:spMk id="2" creationId="{B311CD7B-4B76-4CA8-98D0-571E8724BDC8}"/>
          </ac:spMkLst>
        </pc:spChg>
      </pc:sldChg>
      <pc:sldChg chg="modSp">
        <pc:chgData name="Wang Jian-Sheng" userId="7d25d710-0931-49a3-acef-49192cec40f2" providerId="ADAL" clId="{88EC0591-7A8D-40A0-91DB-CB376E3C8592}" dt="2026-02-10T03:09:41.705" v="1446" actId="20577"/>
        <pc:sldMkLst>
          <pc:docMk/>
          <pc:sldMk cId="1396408902" sldId="276"/>
        </pc:sldMkLst>
        <pc:spChg chg="mod">
          <ac:chgData name="Wang Jian-Sheng" userId="7d25d710-0931-49a3-acef-49192cec40f2" providerId="ADAL" clId="{88EC0591-7A8D-40A0-91DB-CB376E3C8592}" dt="2026-02-10T03:09:41.705" v="1446" actId="20577"/>
          <ac:spMkLst>
            <pc:docMk/>
            <pc:sldMk cId="1396408902" sldId="276"/>
            <ac:spMk id="6" creationId="{7209B769-EFF7-40AF-904C-846055C7E822}"/>
          </ac:spMkLst>
        </pc:spChg>
      </pc:sldChg>
      <pc:sldChg chg="modSp">
        <pc:chgData name="Wang Jian-Sheng" userId="7d25d710-0931-49a3-acef-49192cec40f2" providerId="ADAL" clId="{88EC0591-7A8D-40A0-91DB-CB376E3C8592}" dt="2026-02-02T03:13:31.366" v="604" actId="20577"/>
        <pc:sldMkLst>
          <pc:docMk/>
          <pc:sldMk cId="2235787524" sldId="277"/>
        </pc:sldMkLst>
        <pc:spChg chg="mod">
          <ac:chgData name="Wang Jian-Sheng" userId="7d25d710-0931-49a3-acef-49192cec40f2" providerId="ADAL" clId="{88EC0591-7A8D-40A0-91DB-CB376E3C8592}" dt="2026-02-02T03:13:31.366" v="604" actId="20577"/>
          <ac:spMkLst>
            <pc:docMk/>
            <pc:sldMk cId="2235787524" sldId="277"/>
            <ac:spMk id="3" creationId="{C741CAFB-EF29-470E-859F-B6EA64DB62B3}"/>
          </ac:spMkLst>
        </pc:spChg>
        <pc:cxnChg chg="mod">
          <ac:chgData name="Wang Jian-Sheng" userId="7d25d710-0931-49a3-acef-49192cec40f2" providerId="ADAL" clId="{88EC0591-7A8D-40A0-91DB-CB376E3C8592}" dt="2026-01-29T03:46:50.368" v="482" actId="14100"/>
          <ac:cxnSpMkLst>
            <pc:docMk/>
            <pc:sldMk cId="2235787524" sldId="277"/>
            <ac:cxnSpMk id="9" creationId="{474F0325-4217-49B1-AB95-B3B12C74F8BE}"/>
          </ac:cxnSpMkLst>
        </pc:cxnChg>
      </pc:sldChg>
      <pc:sldChg chg="modSp">
        <pc:chgData name="Wang Jian-Sheng" userId="7d25d710-0931-49a3-acef-49192cec40f2" providerId="ADAL" clId="{88EC0591-7A8D-40A0-91DB-CB376E3C8592}" dt="2026-02-05T03:14:29.561" v="1102" actId="20577"/>
        <pc:sldMkLst>
          <pc:docMk/>
          <pc:sldMk cId="107200960" sldId="279"/>
        </pc:sldMkLst>
        <pc:spChg chg="mod">
          <ac:chgData name="Wang Jian-Sheng" userId="7d25d710-0931-49a3-acef-49192cec40f2" providerId="ADAL" clId="{88EC0591-7A8D-40A0-91DB-CB376E3C8592}" dt="2026-02-05T03:13:39.938" v="1093" actId="20577"/>
          <ac:spMkLst>
            <pc:docMk/>
            <pc:sldMk cId="107200960" sldId="279"/>
            <ac:spMk id="2" creationId="{F0C79511-2764-47A5-8117-179BC36F3A04}"/>
          </ac:spMkLst>
        </pc:spChg>
        <pc:spChg chg="mod">
          <ac:chgData name="Wang Jian-Sheng" userId="7d25d710-0931-49a3-acef-49192cec40f2" providerId="ADAL" clId="{88EC0591-7A8D-40A0-91DB-CB376E3C8592}" dt="2026-02-05T03:14:29.561" v="1102" actId="20577"/>
          <ac:spMkLst>
            <pc:docMk/>
            <pc:sldMk cId="107200960" sldId="279"/>
            <ac:spMk id="3" creationId="{6E5022F2-BDAA-4924-A450-9591164639D5}"/>
          </ac:spMkLst>
        </pc:spChg>
      </pc:sldChg>
      <pc:sldChg chg="addSp modSp modNotesTx">
        <pc:chgData name="Wang Jian-Sheng" userId="7d25d710-0931-49a3-acef-49192cec40f2" providerId="ADAL" clId="{88EC0591-7A8D-40A0-91DB-CB376E3C8592}" dt="2026-02-10T03:15:57.093" v="1461" actId="255"/>
        <pc:sldMkLst>
          <pc:docMk/>
          <pc:sldMk cId="2722150660" sldId="281"/>
        </pc:sldMkLst>
        <pc:spChg chg="mod">
          <ac:chgData name="Wang Jian-Sheng" userId="7d25d710-0931-49a3-acef-49192cec40f2" providerId="ADAL" clId="{88EC0591-7A8D-40A0-91DB-CB376E3C8592}" dt="2026-01-29T03:32:21.924" v="470" actId="14100"/>
          <ac:spMkLst>
            <pc:docMk/>
            <pc:sldMk cId="2722150660" sldId="281"/>
            <ac:spMk id="5" creationId="{6C4B82CF-C137-43F3-8AB2-BCE56177AD4D}"/>
          </ac:spMkLst>
        </pc:spChg>
        <pc:spChg chg="add mod">
          <ac:chgData name="Wang Jian-Sheng" userId="7d25d710-0931-49a3-acef-49192cec40f2" providerId="ADAL" clId="{88EC0591-7A8D-40A0-91DB-CB376E3C8592}" dt="2026-02-10T03:15:57.093" v="1461" actId="255"/>
          <ac:spMkLst>
            <pc:docMk/>
            <pc:sldMk cId="2722150660" sldId="281"/>
            <ac:spMk id="6" creationId="{B13102B2-3BA0-4CEA-AE8E-C8B0796B3F96}"/>
          </ac:spMkLst>
        </pc:spChg>
      </pc:sldChg>
      <pc:sldChg chg="addSp modSp">
        <pc:chgData name="Wang Jian-Sheng" userId="7d25d710-0931-49a3-acef-49192cec40f2" providerId="ADAL" clId="{88EC0591-7A8D-40A0-91DB-CB376E3C8592}" dt="2026-02-10T03:22:23.159" v="1627" actId="1038"/>
        <pc:sldMkLst>
          <pc:docMk/>
          <pc:sldMk cId="2789872738" sldId="282"/>
        </pc:sldMkLst>
        <pc:spChg chg="add mod">
          <ac:chgData name="Wang Jian-Sheng" userId="7d25d710-0931-49a3-acef-49192cec40f2" providerId="ADAL" clId="{88EC0591-7A8D-40A0-91DB-CB376E3C8592}" dt="2026-02-10T03:22:23.159" v="1627" actId="1038"/>
          <ac:spMkLst>
            <pc:docMk/>
            <pc:sldMk cId="2789872738" sldId="282"/>
            <ac:spMk id="3" creationId="{01876AF2-D33D-46E7-8A02-ED3E8F525C6F}"/>
          </ac:spMkLst>
        </pc:spChg>
      </pc:sldChg>
      <pc:sldChg chg="modNotesTx">
        <pc:chgData name="Wang Jian-Sheng" userId="7d25d710-0931-49a3-acef-49192cec40f2" providerId="ADAL" clId="{88EC0591-7A8D-40A0-91DB-CB376E3C8592}" dt="2026-02-05T02:51:45.274" v="998" actId="20577"/>
        <pc:sldMkLst>
          <pc:docMk/>
          <pc:sldMk cId="3275710598" sldId="283"/>
        </pc:sldMkLst>
      </pc:sldChg>
      <pc:sldChg chg="modNotesTx">
        <pc:chgData name="Wang Jian-Sheng" userId="7d25d710-0931-49a3-acef-49192cec40f2" providerId="ADAL" clId="{88EC0591-7A8D-40A0-91DB-CB376E3C8592}" dt="2026-02-10T03:30:48.722" v="1810" actId="20577"/>
        <pc:sldMkLst>
          <pc:docMk/>
          <pc:sldMk cId="3378654784" sldId="285"/>
        </pc:sldMkLst>
      </pc:sldChg>
      <pc:sldChg chg="modSp modNotesTx">
        <pc:chgData name="Wang Jian-Sheng" userId="7d25d710-0931-49a3-acef-49192cec40f2" providerId="ADAL" clId="{88EC0591-7A8D-40A0-91DB-CB376E3C8592}" dt="2026-02-02T03:08:30.464" v="599" actId="20577"/>
        <pc:sldMkLst>
          <pc:docMk/>
          <pc:sldMk cId="2255412117" sldId="287"/>
        </pc:sldMkLst>
        <pc:spChg chg="mod">
          <ac:chgData name="Wang Jian-Sheng" userId="7d25d710-0931-49a3-acef-49192cec40f2" providerId="ADAL" clId="{88EC0591-7A8D-40A0-91DB-CB376E3C8592}" dt="2026-01-29T03:16:33.665" v="340" actId="20577"/>
          <ac:spMkLst>
            <pc:docMk/>
            <pc:sldMk cId="2255412117" sldId="287"/>
            <ac:spMk id="2" creationId="{D788715F-B962-4558-BD6F-A335405F16FB}"/>
          </ac:spMkLst>
        </pc:spChg>
      </pc:sldChg>
      <pc:sldChg chg="modSp">
        <pc:chgData name="Wang Jian-Sheng" userId="7d25d710-0931-49a3-acef-49192cec40f2" providerId="ADAL" clId="{88EC0591-7A8D-40A0-91DB-CB376E3C8592}" dt="2026-02-05T02:44:25.063" v="829" actId="20577"/>
        <pc:sldMkLst>
          <pc:docMk/>
          <pc:sldMk cId="712161473" sldId="289"/>
        </pc:sldMkLst>
        <pc:spChg chg="mod">
          <ac:chgData name="Wang Jian-Sheng" userId="7d25d710-0931-49a3-acef-49192cec40f2" providerId="ADAL" clId="{88EC0591-7A8D-40A0-91DB-CB376E3C8592}" dt="2026-02-05T02:44:25.063" v="829" actId="20577"/>
          <ac:spMkLst>
            <pc:docMk/>
            <pc:sldMk cId="712161473" sldId="289"/>
            <ac:spMk id="3" creationId="{37CD77C3-B2DA-4147-BA0E-527BB1F013DE}"/>
          </ac:spMkLst>
        </pc:spChg>
      </pc:sldChg>
    </pc:docChg>
  </pc:docChgLst>
  <pc:docChgLst>
    <pc:chgData name="Wang Jian-Sheng" userId="7d25d710-0931-49a3-acef-49192cec40f2" providerId="ADAL" clId="{66572D02-9A0D-4195-ADB6-5DBDF78AF6B3}"/>
    <pc:docChg chg="custSel addSld modSld">
      <pc:chgData name="Wang Jian-Sheng" userId="7d25d710-0931-49a3-acef-49192cec40f2" providerId="ADAL" clId="{66572D02-9A0D-4195-ADB6-5DBDF78AF6B3}" dt="2026-02-07T04:42:04.707" v="428" actId="20577"/>
      <pc:docMkLst>
        <pc:docMk/>
      </pc:docMkLst>
      <pc:sldChg chg="modNotesTx">
        <pc:chgData name="Wang Jian-Sheng" userId="7d25d710-0931-49a3-acef-49192cec40f2" providerId="ADAL" clId="{66572D02-9A0D-4195-ADB6-5DBDF78AF6B3}" dt="2026-02-07T03:29:17.558" v="4" actId="5793"/>
        <pc:sldMkLst>
          <pc:docMk/>
          <pc:sldMk cId="61835432" sldId="284"/>
        </pc:sldMkLst>
      </pc:sldChg>
      <pc:sldChg chg="addSp modSp new mod">
        <pc:chgData name="Wang Jian-Sheng" userId="7d25d710-0931-49a3-acef-49192cec40f2" providerId="ADAL" clId="{66572D02-9A0D-4195-ADB6-5DBDF78AF6B3}" dt="2026-02-07T04:42:04.707" v="428" actId="20577"/>
        <pc:sldMkLst>
          <pc:docMk/>
          <pc:sldMk cId="4864195" sldId="290"/>
        </pc:sldMkLst>
        <pc:spChg chg="mod">
          <ac:chgData name="Wang Jian-Sheng" userId="7d25d710-0931-49a3-acef-49192cec40f2" providerId="ADAL" clId="{66572D02-9A0D-4195-ADB6-5DBDF78AF6B3}" dt="2026-02-07T03:29:39.173" v="29" actId="20577"/>
          <ac:spMkLst>
            <pc:docMk/>
            <pc:sldMk cId="4864195" sldId="290"/>
            <ac:spMk id="2" creationId="{563771D9-4BDE-E48E-3C75-39AF2B3AB5C9}"/>
          </ac:spMkLst>
        </pc:spChg>
        <pc:spChg chg="mod">
          <ac:chgData name="Wang Jian-Sheng" userId="7d25d710-0931-49a3-acef-49192cec40f2" providerId="ADAL" clId="{66572D02-9A0D-4195-ADB6-5DBDF78AF6B3}" dt="2026-02-07T03:40:33.058" v="287" actId="1076"/>
          <ac:spMkLst>
            <pc:docMk/>
            <pc:sldMk cId="4864195" sldId="290"/>
            <ac:spMk id="3" creationId="{6EC58E53-9FB5-4EC3-8843-03DC6FBFC10D}"/>
          </ac:spMkLst>
        </pc:spChg>
        <pc:spChg chg="add mod">
          <ac:chgData name="Wang Jian-Sheng" userId="7d25d710-0931-49a3-acef-49192cec40f2" providerId="ADAL" clId="{66572D02-9A0D-4195-ADB6-5DBDF78AF6B3}" dt="2026-02-07T04:33:48.586" v="420" actId="20577"/>
          <ac:spMkLst>
            <pc:docMk/>
            <pc:sldMk cId="4864195" sldId="290"/>
            <ac:spMk id="4" creationId="{907848E8-1254-4C8F-24CF-2F28028E03D8}"/>
          </ac:spMkLst>
        </pc:spChg>
        <pc:spChg chg="add mod">
          <ac:chgData name="Wang Jian-Sheng" userId="7d25d710-0931-49a3-acef-49192cec40f2" providerId="ADAL" clId="{66572D02-9A0D-4195-ADB6-5DBDF78AF6B3}" dt="2026-02-07T04:42:04.707" v="428" actId="20577"/>
          <ac:spMkLst>
            <pc:docMk/>
            <pc:sldMk cId="4864195" sldId="290"/>
            <ac:spMk id="5" creationId="{0491AAF5-2D73-5AD0-8B43-E757104D96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5323C-DA4A-438F-B55F-27209206FB23}" type="datetimeFigureOut">
              <a:rPr lang="en-SG" smtClean="0"/>
              <a:t>10/2/2026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6A136-CBA9-41BE-B678-BB635CF2BB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0556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Bishop, chapter 6.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39661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chapter 6, Bishop, “Deep Learning”.   Limitation of linear model, XOR problem, see Minsky and </a:t>
            </a:r>
            <a:r>
              <a:rPr lang="en-US" dirty="0" err="1"/>
              <a:t>Papert</a:t>
            </a:r>
            <a:r>
              <a:rPr lang="en-US" dirty="0"/>
              <a:t>, “</a:t>
            </a:r>
            <a:r>
              <a:rPr lang="en-US" dirty="0" err="1"/>
              <a:t>Perceptrons</a:t>
            </a:r>
            <a:r>
              <a:rPr lang="en-US" dirty="0"/>
              <a:t>,” (1969).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5102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if f and h are identity maps, the deep network has no real advantage, why?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3646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likelihood function if, 1) y and t are vectors and sigma is a matrix?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70968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this formula for p agree with the previous slide when K = 2.   The likelihood is  the product of p(</a:t>
            </a:r>
            <a:r>
              <a:rPr lang="en-US" dirty="0" err="1"/>
              <a:t>t_n|x_n,w</a:t>
            </a:r>
            <a:r>
              <a:rPr lang="en-US" dirty="0"/>
              <a:t>) over n with the same w.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1049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</a:t>
            </a:r>
            <a:r>
              <a:rPr lang="en-US" dirty="0" err="1"/>
              <a:t>u_i</a:t>
            </a:r>
            <a:r>
              <a:rPr lang="en-US" dirty="0"/>
              <a:t> span the full space of w if H is not singular.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8385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E(w) is locally convex.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34676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RMSProp</a:t>
            </a:r>
            <a:r>
              <a:rPr lang="en-US" dirty="0"/>
              <a:t>: root mean squared propagation.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26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7352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deep understanding on optimization algorithms, see J. </a:t>
            </a:r>
            <a:r>
              <a:rPr lang="en-US" dirty="0" err="1"/>
              <a:t>Nocedal</a:t>
            </a:r>
            <a:r>
              <a:rPr lang="en-US" dirty="0"/>
              <a:t> and S. J. Wright, “Numerical Optimization”, Springer (1999).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28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82414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Press, et al, Numerical Recipes in C, 2</a:t>
            </a:r>
            <a:r>
              <a:rPr lang="en-US" baseline="30000" dirty="0"/>
              <a:t>nd</a:t>
            </a:r>
            <a:r>
              <a:rPr lang="en-US" dirty="0"/>
              <a:t> page 427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29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0941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meaning of hyperparameters in SGD is by v = momentum*v + (1-dampening)*g, followed by w -= </a:t>
            </a:r>
            <a:r>
              <a:rPr lang="en-US" dirty="0" err="1"/>
              <a:t>lr</a:t>
            </a:r>
            <a:r>
              <a:rPr lang="en-US" dirty="0"/>
              <a:t>*v  (v is velocity, and g = grad E is the gradient, </a:t>
            </a:r>
            <a:r>
              <a:rPr lang="en-US" dirty="0" err="1"/>
              <a:t>lr</a:t>
            </a:r>
            <a:r>
              <a:rPr lang="en-US" dirty="0"/>
              <a:t> is learning rate).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31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7807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7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8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36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51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4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2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3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97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4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2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9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9F94C-8A6A-45FE-82A9-DD9AF81D1AD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8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11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12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1.png"/><Relationship Id="rId4" Type="http://schemas.openxmlformats.org/officeDocument/2006/relationships/image" Target="../media/image2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0.png"/><Relationship Id="rId4" Type="http://schemas.openxmlformats.org/officeDocument/2006/relationships/image" Target="../media/image37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vidhya.com/blog/2021/03/variants-of-gradient-descent-algorithm/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F1026-AD94-4412-BD4F-59BB80E51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811463"/>
            <a:ext cx="77724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Week 4,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Deep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153188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EBC722-A24C-472A-97C9-A2A053B4F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672" y="920903"/>
            <a:ext cx="3643746" cy="13726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68503B-8664-4950-A5CE-B5583357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Limitations of fixed basis functions/curse of dimensionality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82E5F-294A-4CDC-98DD-6AAA43B60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446111"/>
                <a:ext cx="7886700" cy="3902438"/>
              </a:xfrm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SG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Polynomials in 1 vs D-dimensional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+⋯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+…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82E5F-294A-4CDC-98DD-6AAA43B60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446111"/>
                <a:ext cx="7886700" cy="3902438"/>
              </a:xfrm>
              <a:blipFill>
                <a:blip r:embed="rId4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4A82AD5-8F29-4CD5-8D1D-DDEC0F1E7625}"/>
              </a:ext>
            </a:extLst>
          </p:cNvPr>
          <p:cNvSpPr txBox="1"/>
          <p:nvPr/>
        </p:nvSpPr>
        <p:spPr>
          <a:xfrm>
            <a:off x="6451021" y="2646219"/>
            <a:ext cx="2166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Fig.5.9 Goodfellow, et al.</a:t>
            </a:r>
            <a:endParaRPr lang="en-SG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6F4B72-0551-46B0-85A2-657272C3404D}"/>
              </a:ext>
            </a:extLst>
          </p:cNvPr>
          <p:cNvSpPr txBox="1"/>
          <p:nvPr/>
        </p:nvSpPr>
        <p:spPr>
          <a:xfrm>
            <a:off x="6671827" y="3259723"/>
            <a:ext cx="1724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XOR problem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3184949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3D1F3-9FAF-479F-AAFC-ECCAD2D9A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Multilayer Networks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5C04EA-3F8A-423A-B051-E3BEACF7CC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4335236" cy="4803775"/>
              </a:xfrm>
            </p:spPr>
            <p:txBody>
              <a:bodyPr>
                <a:normAutofit/>
              </a:bodyPr>
              <a:lstStyle/>
              <a:p>
                <a:r>
                  <a:rPr lang="en-US" b="0" dirty="0"/>
                  <a:t>Input layer: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Nonlinear activation function: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SG" dirty="0"/>
              </a:p>
              <a:p>
                <a:r>
                  <a:rPr lang="en-US" dirty="0"/>
                  <a:t>O</a:t>
                </a:r>
                <a:r>
                  <a:rPr lang="en-SG" dirty="0" err="1"/>
                  <a:t>utput</a:t>
                </a:r>
                <a:r>
                  <a:rPr lang="en-SG" dirty="0"/>
                  <a:t> layer: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5C04EA-3F8A-423A-B051-E3BEACF7CC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4335236" cy="4803775"/>
              </a:xfrm>
              <a:blipFill>
                <a:blip r:embed="rId2"/>
                <a:stretch>
                  <a:fillRect l="-2532" t="-21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BCC6182-9C8B-4DEF-89A7-E77CCE63A0F3}"/>
                  </a:ext>
                </a:extLst>
              </p:cNvPr>
              <p:cNvSpPr/>
              <p:nvPr/>
            </p:nvSpPr>
            <p:spPr>
              <a:xfrm>
                <a:off x="5486400" y="2364377"/>
                <a:ext cx="352697" cy="3265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BCC6182-9C8B-4DEF-89A7-E77CCE63A0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2364377"/>
                <a:ext cx="352697" cy="326572"/>
              </a:xfrm>
              <a:prstGeom prst="rect">
                <a:avLst/>
              </a:prstGeom>
              <a:blipFill>
                <a:blip r:embed="rId3"/>
                <a:stretch>
                  <a:fillRect l="-18333" r="-8333" b="-909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6753144-5B78-4010-9E6C-8C2BD355CF83}"/>
                  </a:ext>
                </a:extLst>
              </p:cNvPr>
              <p:cNvSpPr/>
              <p:nvPr/>
            </p:nvSpPr>
            <p:spPr>
              <a:xfrm>
                <a:off x="5468982" y="3607525"/>
                <a:ext cx="352697" cy="3265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6753144-5B78-4010-9E6C-8C2BD355CF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982" y="3607525"/>
                <a:ext cx="352697" cy="326572"/>
              </a:xfrm>
              <a:prstGeom prst="rect">
                <a:avLst/>
              </a:prstGeom>
              <a:blipFill>
                <a:blip r:embed="rId4"/>
                <a:stretch>
                  <a:fillRect l="-15000" r="-5000" b="-909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CAF5751-4882-4EC5-89FD-C774EE2CCFE9}"/>
                  </a:ext>
                </a:extLst>
              </p:cNvPr>
              <p:cNvSpPr/>
              <p:nvPr/>
            </p:nvSpPr>
            <p:spPr>
              <a:xfrm>
                <a:off x="5468984" y="4136567"/>
                <a:ext cx="352697" cy="3265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CAF5751-4882-4EC5-89FD-C774EE2CCF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984" y="4136567"/>
                <a:ext cx="352697" cy="326572"/>
              </a:xfrm>
              <a:prstGeom prst="rect">
                <a:avLst/>
              </a:prstGeom>
              <a:blipFill>
                <a:blip r:embed="rId5"/>
                <a:stretch>
                  <a:fillRect l="-13333" r="-3333" b="-727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E5DA8F7-1ED9-4D5B-ACC6-FF5D00F4136F}"/>
                  </a:ext>
                </a:extLst>
              </p:cNvPr>
              <p:cNvSpPr/>
              <p:nvPr/>
            </p:nvSpPr>
            <p:spPr>
              <a:xfrm>
                <a:off x="6779623" y="2364377"/>
                <a:ext cx="352697" cy="3265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E5DA8F7-1ED9-4D5B-ACC6-FF5D00F413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9623" y="2364377"/>
                <a:ext cx="352697" cy="326572"/>
              </a:xfrm>
              <a:prstGeom prst="ellipse">
                <a:avLst/>
              </a:prstGeom>
              <a:blipFill>
                <a:blip r:embed="rId6"/>
                <a:stretch>
                  <a:fillRect l="-13333" r="-3333" b="-90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4E39E5F-9B97-4A45-87DB-3C96DC70C121}"/>
                  </a:ext>
                </a:extLst>
              </p:cNvPr>
              <p:cNvSpPr/>
              <p:nvPr/>
            </p:nvSpPr>
            <p:spPr>
              <a:xfrm>
                <a:off x="5464630" y="4648196"/>
                <a:ext cx="352697" cy="32657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4E39E5F-9B97-4A45-87DB-3C96DC70C1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630" y="4648196"/>
                <a:ext cx="352697" cy="326572"/>
              </a:xfrm>
              <a:prstGeom prst="rect">
                <a:avLst/>
              </a:prstGeom>
              <a:blipFill>
                <a:blip r:embed="rId7"/>
                <a:stretch>
                  <a:fillRect l="-13333" r="-5000" b="-714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1E6E67E-CA24-49BC-BB9E-A2975450E534}"/>
                  </a:ext>
                </a:extLst>
              </p:cNvPr>
              <p:cNvSpPr/>
              <p:nvPr/>
            </p:nvSpPr>
            <p:spPr>
              <a:xfrm>
                <a:off x="6762205" y="4254132"/>
                <a:ext cx="352697" cy="3265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1E6E67E-CA24-49BC-BB9E-A2975450E5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205" y="4254132"/>
                <a:ext cx="352697" cy="326572"/>
              </a:xfrm>
              <a:prstGeom prst="ellipse">
                <a:avLst/>
              </a:prstGeom>
              <a:blipFill>
                <a:blip r:embed="rId8"/>
                <a:stretch>
                  <a:fillRect l="-5000" b="-90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2A32F96-FFFA-420E-8A74-4B7D091A6E0D}"/>
                  </a:ext>
                </a:extLst>
              </p:cNvPr>
              <p:cNvSpPr/>
              <p:nvPr/>
            </p:nvSpPr>
            <p:spPr>
              <a:xfrm>
                <a:off x="6781802" y="5037900"/>
                <a:ext cx="352697" cy="3265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2A32F96-FFFA-420E-8A74-4B7D091A6E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2" y="5037900"/>
                <a:ext cx="352697" cy="326572"/>
              </a:xfrm>
              <a:prstGeom prst="ellipse">
                <a:avLst/>
              </a:prstGeom>
              <a:blipFill>
                <a:blip r:embed="rId9"/>
                <a:stretch>
                  <a:fillRect l="-6780" b="-714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894D3E11-EC6C-4CC5-998B-D07A4D0750FA}"/>
                  </a:ext>
                </a:extLst>
              </p:cNvPr>
              <p:cNvSpPr/>
              <p:nvPr/>
            </p:nvSpPr>
            <p:spPr>
              <a:xfrm>
                <a:off x="8327571" y="2841171"/>
                <a:ext cx="333103" cy="326572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894D3E11-EC6C-4CC5-998B-D07A4D0750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571" y="2841171"/>
                <a:ext cx="333103" cy="326572"/>
              </a:xfrm>
              <a:prstGeom prst="roundRect">
                <a:avLst/>
              </a:prstGeom>
              <a:blipFill>
                <a:blip r:embed="rId10"/>
                <a:stretch>
                  <a:fillRect l="-15789" b="-1428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628E5111-492D-414F-BF98-D38C2D088F64}"/>
                  </a:ext>
                </a:extLst>
              </p:cNvPr>
              <p:cNvSpPr/>
              <p:nvPr/>
            </p:nvSpPr>
            <p:spPr>
              <a:xfrm>
                <a:off x="8355874" y="4025534"/>
                <a:ext cx="333103" cy="326572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628E5111-492D-414F-BF98-D38C2D088F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874" y="4025534"/>
                <a:ext cx="333103" cy="326572"/>
              </a:xfrm>
              <a:prstGeom prst="roundRect">
                <a:avLst/>
              </a:prstGeom>
              <a:blipFill>
                <a:blip r:embed="rId11"/>
                <a:stretch>
                  <a:fillRect l="-12500" b="-160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FC785C9-02E8-4145-9D75-A5F75C2D3D1A}"/>
              </a:ext>
            </a:extLst>
          </p:cNvPr>
          <p:cNvCxnSpPr/>
          <p:nvPr/>
        </p:nvCxnSpPr>
        <p:spPr>
          <a:xfrm>
            <a:off x="5930537" y="2534194"/>
            <a:ext cx="757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A41997C-16D1-4745-B7FE-C04AD1AEE2EB}"/>
              </a:ext>
            </a:extLst>
          </p:cNvPr>
          <p:cNvCxnSpPr/>
          <p:nvPr/>
        </p:nvCxnSpPr>
        <p:spPr>
          <a:xfrm flipV="1">
            <a:off x="5930537" y="2690949"/>
            <a:ext cx="757646" cy="1071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FD69C6D-6FDE-4F89-91AD-A5294FD033DD}"/>
              </a:ext>
            </a:extLst>
          </p:cNvPr>
          <p:cNvCxnSpPr/>
          <p:nvPr/>
        </p:nvCxnSpPr>
        <p:spPr>
          <a:xfrm flipV="1">
            <a:off x="5904412" y="2841171"/>
            <a:ext cx="783771" cy="1412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D7C083A-7D0E-488F-86F1-511613872DCA}"/>
              </a:ext>
            </a:extLst>
          </p:cNvPr>
          <p:cNvCxnSpPr/>
          <p:nvPr/>
        </p:nvCxnSpPr>
        <p:spPr>
          <a:xfrm flipV="1">
            <a:off x="5930537" y="2841171"/>
            <a:ext cx="840377" cy="1939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15EC20A-572B-4101-B453-4CB8ED0E138B}"/>
                  </a:ext>
                </a:extLst>
              </p:cNvPr>
              <p:cNvSpPr txBox="1"/>
              <p:nvPr/>
            </p:nvSpPr>
            <p:spPr>
              <a:xfrm>
                <a:off x="5995853" y="2070461"/>
                <a:ext cx="228600" cy="447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𝑀𝐷</m:t>
                          </m:r>
                        </m:sub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15EC20A-572B-4101-B453-4CB8ED0E1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5853" y="2070461"/>
                <a:ext cx="228600" cy="447238"/>
              </a:xfrm>
              <a:prstGeom prst="rect">
                <a:avLst/>
              </a:prstGeom>
              <a:blipFill>
                <a:blip r:embed="rId12"/>
                <a:stretch>
                  <a:fillRect r="-15405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0A74143-E852-4F62-A34D-7F02E6C97D0D}"/>
                  </a:ext>
                </a:extLst>
              </p:cNvPr>
              <p:cNvSpPr txBox="1"/>
              <p:nvPr/>
            </p:nvSpPr>
            <p:spPr>
              <a:xfrm>
                <a:off x="6148253" y="3764274"/>
                <a:ext cx="228600" cy="447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0A74143-E852-4F62-A34D-7F02E6C97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253" y="3764274"/>
                <a:ext cx="228600" cy="447238"/>
              </a:xfrm>
              <a:prstGeom prst="rect">
                <a:avLst/>
              </a:prstGeom>
              <a:blipFill>
                <a:blip r:embed="rId13"/>
                <a:stretch>
                  <a:fillRect r="-14324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E4118C-276C-4072-9B4F-9C5E611DE171}"/>
                  </a:ext>
                </a:extLst>
              </p:cNvPr>
              <p:cNvSpPr txBox="1"/>
              <p:nvPr/>
            </p:nvSpPr>
            <p:spPr>
              <a:xfrm>
                <a:off x="5821682" y="2882534"/>
                <a:ext cx="228600" cy="447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E4118C-276C-4072-9B4F-9C5E611DE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682" y="2882534"/>
                <a:ext cx="228600" cy="447238"/>
              </a:xfrm>
              <a:prstGeom prst="rect">
                <a:avLst/>
              </a:prstGeom>
              <a:blipFill>
                <a:blip r:embed="rId14"/>
                <a:stretch>
                  <a:fillRect r="-13684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1BBCE29-85C4-41AB-AADF-D24D534FCEE4}"/>
              </a:ext>
            </a:extLst>
          </p:cNvPr>
          <p:cNvCxnSpPr/>
          <p:nvPr/>
        </p:nvCxnSpPr>
        <p:spPr>
          <a:xfrm>
            <a:off x="5904412" y="2638697"/>
            <a:ext cx="920931" cy="1572815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B0004B5-66C8-4AF2-BED2-56A2635266F2}"/>
              </a:ext>
            </a:extLst>
          </p:cNvPr>
          <p:cNvCxnSpPr/>
          <p:nvPr/>
        </p:nvCxnSpPr>
        <p:spPr>
          <a:xfrm>
            <a:off x="5904412" y="3827417"/>
            <a:ext cx="857793" cy="476794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D9ACC6B-7807-4738-B226-FF591207EA25}"/>
              </a:ext>
            </a:extLst>
          </p:cNvPr>
          <p:cNvCxnSpPr/>
          <p:nvPr/>
        </p:nvCxnSpPr>
        <p:spPr>
          <a:xfrm>
            <a:off x="5904412" y="4299853"/>
            <a:ext cx="783771" cy="117565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57FC146-191C-4429-BD95-C51558BC015B}"/>
              </a:ext>
            </a:extLst>
          </p:cNvPr>
          <p:cNvCxnSpPr/>
          <p:nvPr/>
        </p:nvCxnSpPr>
        <p:spPr>
          <a:xfrm flipV="1">
            <a:off x="5954486" y="4556127"/>
            <a:ext cx="733697" cy="304973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DF10E0C-8708-42A2-B05C-D6AA778FD2E9}"/>
              </a:ext>
            </a:extLst>
          </p:cNvPr>
          <p:cNvCxnSpPr/>
          <p:nvPr/>
        </p:nvCxnSpPr>
        <p:spPr>
          <a:xfrm>
            <a:off x="7223760" y="2638697"/>
            <a:ext cx="984738" cy="36576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B04B1EB-9F32-4EC1-9A5F-AD339761104B}"/>
              </a:ext>
            </a:extLst>
          </p:cNvPr>
          <p:cNvCxnSpPr/>
          <p:nvPr/>
        </p:nvCxnSpPr>
        <p:spPr>
          <a:xfrm flipV="1">
            <a:off x="7223760" y="3167743"/>
            <a:ext cx="984738" cy="113211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B5A5D47-8C3D-4826-AD82-4269F762C940}"/>
              </a:ext>
            </a:extLst>
          </p:cNvPr>
          <p:cNvCxnSpPr/>
          <p:nvPr/>
        </p:nvCxnSpPr>
        <p:spPr>
          <a:xfrm flipV="1">
            <a:off x="7132320" y="3329772"/>
            <a:ext cx="1076178" cy="1708128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7F1AF95-B859-4CD4-8C54-AF6DB77FD7AC}"/>
              </a:ext>
            </a:extLst>
          </p:cNvPr>
          <p:cNvCxnSpPr/>
          <p:nvPr/>
        </p:nvCxnSpPr>
        <p:spPr>
          <a:xfrm>
            <a:off x="7223760" y="2771335"/>
            <a:ext cx="984738" cy="1254199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22411B7-F9F0-434D-BE72-88B196A6138A}"/>
              </a:ext>
            </a:extLst>
          </p:cNvPr>
          <p:cNvCxnSpPr/>
          <p:nvPr/>
        </p:nvCxnSpPr>
        <p:spPr>
          <a:xfrm flipV="1">
            <a:off x="7223760" y="4183836"/>
            <a:ext cx="984738" cy="23358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11A4433-44C5-4B58-A8DE-E4DE5B5F256C}"/>
              </a:ext>
            </a:extLst>
          </p:cNvPr>
          <p:cNvCxnSpPr/>
          <p:nvPr/>
        </p:nvCxnSpPr>
        <p:spPr>
          <a:xfrm flipV="1">
            <a:off x="7223760" y="4346348"/>
            <a:ext cx="1002156" cy="738047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87867E1-2CE4-48A9-819B-B0DE21C645A1}"/>
                  </a:ext>
                </a:extLst>
              </p:cNvPr>
              <p:cNvSpPr txBox="1"/>
              <p:nvPr/>
            </p:nvSpPr>
            <p:spPr>
              <a:xfrm>
                <a:off x="7575452" y="2433711"/>
                <a:ext cx="352697" cy="447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𝐾𝑀</m:t>
                          </m:r>
                        </m:sub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87867E1-2CE4-48A9-819B-B0DE21C64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452" y="2433711"/>
                <a:ext cx="352697" cy="447238"/>
              </a:xfrm>
              <a:prstGeom prst="rect">
                <a:avLst/>
              </a:prstGeom>
              <a:blipFill>
                <a:blip r:embed="rId15"/>
                <a:stretch>
                  <a:fillRect r="-620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A5C6B20-D1E6-4A25-A885-7DD9861F8A94}"/>
                  </a:ext>
                </a:extLst>
              </p:cNvPr>
              <p:cNvSpPr txBox="1"/>
              <p:nvPr/>
            </p:nvSpPr>
            <p:spPr>
              <a:xfrm>
                <a:off x="7594206" y="4611851"/>
                <a:ext cx="352697" cy="447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A5C6B20-D1E6-4A25-A885-7DD9861F8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4206" y="4611851"/>
                <a:ext cx="352697" cy="447238"/>
              </a:xfrm>
              <a:prstGeom prst="rect">
                <a:avLst/>
              </a:prstGeom>
              <a:blipFill>
                <a:blip r:embed="rId16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E2241AC-9732-4411-A205-756A34F73739}"/>
                  </a:ext>
                </a:extLst>
              </p:cNvPr>
              <p:cNvSpPr txBox="1"/>
              <p:nvPr/>
            </p:nvSpPr>
            <p:spPr>
              <a:xfrm>
                <a:off x="5556734" y="2971800"/>
                <a:ext cx="2051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E2241AC-9732-4411-A205-756A34F73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6734" y="2971800"/>
                <a:ext cx="205184" cy="369332"/>
              </a:xfrm>
              <a:prstGeom prst="rect">
                <a:avLst/>
              </a:prstGeom>
              <a:blipFill>
                <a:blip r:embed="rId17"/>
                <a:stretch>
                  <a:fillRect l="-24242" r="-24242" b="-8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3D64EE8-C2C3-4E40-9F98-85435331C5A2}"/>
                  </a:ext>
                </a:extLst>
              </p:cNvPr>
              <p:cNvSpPr txBox="1"/>
              <p:nvPr/>
            </p:nvSpPr>
            <p:spPr>
              <a:xfrm>
                <a:off x="6869718" y="3293016"/>
                <a:ext cx="2051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3D64EE8-C2C3-4E40-9F98-85435331C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718" y="3293016"/>
                <a:ext cx="205184" cy="369332"/>
              </a:xfrm>
              <a:prstGeom prst="rect">
                <a:avLst/>
              </a:prstGeom>
              <a:blipFill>
                <a:blip r:embed="rId18"/>
                <a:stretch>
                  <a:fillRect l="-23529" r="-20588" b="-819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D21893F-C834-44D1-AD5E-3097003169B1}"/>
                  </a:ext>
                </a:extLst>
              </p:cNvPr>
              <p:cNvSpPr txBox="1"/>
              <p:nvPr/>
            </p:nvSpPr>
            <p:spPr>
              <a:xfrm>
                <a:off x="8403096" y="3398526"/>
                <a:ext cx="2051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D21893F-C834-44D1-AD5E-309700316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3096" y="3398526"/>
                <a:ext cx="205184" cy="369332"/>
              </a:xfrm>
              <a:prstGeom prst="rect">
                <a:avLst/>
              </a:prstGeom>
              <a:blipFill>
                <a:blip r:embed="rId19"/>
                <a:stretch>
                  <a:fillRect l="-20588" r="-23529" b="-8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A82A8A5-6655-4E4E-87C0-6DB87600E072}"/>
                  </a:ext>
                </a:extLst>
              </p:cNvPr>
              <p:cNvSpPr txBox="1"/>
              <p:nvPr/>
            </p:nvSpPr>
            <p:spPr>
              <a:xfrm>
                <a:off x="6050282" y="6024146"/>
                <a:ext cx="1849902" cy="554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A82A8A5-6655-4E4E-87C0-6DB87600E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282" y="6024146"/>
                <a:ext cx="1849902" cy="55496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657BA9-D452-442C-BC72-4A5BC3381336}"/>
                  </a:ext>
                </a:extLst>
              </p:cNvPr>
              <p:cNvSpPr txBox="1"/>
              <p:nvPr/>
            </p:nvSpPr>
            <p:spPr>
              <a:xfrm>
                <a:off x="5081450" y="5364472"/>
                <a:ext cx="14369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657BA9-D452-442C-BC72-4A5BC3381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450" y="5364472"/>
                <a:ext cx="1436915" cy="369332"/>
              </a:xfrm>
              <a:prstGeom prst="rect">
                <a:avLst/>
              </a:prstGeom>
              <a:blipFill>
                <a:blip r:embed="rId21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81AF2F-4833-4D65-8291-C2310F124443}"/>
                  </a:ext>
                </a:extLst>
              </p:cNvPr>
              <p:cNvSpPr txBox="1"/>
              <p:nvPr/>
            </p:nvSpPr>
            <p:spPr>
              <a:xfrm>
                <a:off x="4362996" y="1723344"/>
                <a:ext cx="4180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81AF2F-4833-4D65-8291-C2310F124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996" y="1723344"/>
                <a:ext cx="418012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6FB70D-7AD1-4337-ADDF-9B977E28668A}"/>
              </a:ext>
            </a:extLst>
          </p:cNvPr>
          <p:cNvCxnSpPr/>
          <p:nvPr/>
        </p:nvCxnSpPr>
        <p:spPr>
          <a:xfrm flipH="1">
            <a:off x="4343400" y="2060021"/>
            <a:ext cx="169817" cy="30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56E873C-7358-4412-B53E-BDE68A6BECAE}"/>
              </a:ext>
            </a:extLst>
          </p:cNvPr>
          <p:cNvSpPr txBox="1"/>
          <p:nvPr/>
        </p:nvSpPr>
        <p:spPr>
          <a:xfrm>
            <a:off x="5291447" y="1579418"/>
            <a:ext cx="359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input        hidden        output</a:t>
            </a:r>
            <a:endParaRPr lang="en-SG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61B98E2-FC1F-4344-B770-82C395751EEF}"/>
                  </a:ext>
                </a:extLst>
              </p:cNvPr>
              <p:cNvSpPr txBox="1"/>
              <p:nvPr/>
            </p:nvSpPr>
            <p:spPr>
              <a:xfrm>
                <a:off x="8333826" y="4455422"/>
                <a:ext cx="2495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61B98E2-FC1F-4344-B770-82C395751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826" y="4455422"/>
                <a:ext cx="249539" cy="369332"/>
              </a:xfrm>
              <a:prstGeom prst="rect">
                <a:avLst/>
              </a:prstGeom>
              <a:blipFill>
                <a:blip r:embed="rId23"/>
                <a:stretch>
                  <a:fillRect l="-7317" r="-31707" b="-1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1945797-8E4A-4879-9525-E5B3E2BA3223}"/>
                  </a:ext>
                </a:extLst>
              </p:cNvPr>
              <p:cNvSpPr txBox="1"/>
              <p:nvPr/>
            </p:nvSpPr>
            <p:spPr>
              <a:xfrm>
                <a:off x="6802899" y="5411387"/>
                <a:ext cx="2495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1945797-8E4A-4879-9525-E5B3E2BA3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899" y="5411387"/>
                <a:ext cx="249539" cy="369332"/>
              </a:xfrm>
              <a:prstGeom prst="rect">
                <a:avLst/>
              </a:prstGeom>
              <a:blipFill>
                <a:blip r:embed="rId24"/>
                <a:stretch>
                  <a:fillRect r="-219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9649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A4E25-FCC1-4639-B221-C5EF543F4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 in matrix notation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442DDA-8FB9-4DFF-84B2-15BA777E0A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226962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SG" dirty="0"/>
                  <a:t>,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SG" b="1" dirty="0"/>
                  <a:t> </a:t>
                </a:r>
                <a:r>
                  <a:rPr lang="en-SG" dirty="0"/>
                  <a:t>(pre-activation)</a:t>
                </a:r>
                <a:endParaRPr lang="en-SG" b="1" dirty="0"/>
              </a:p>
              <a:p>
                <a:endParaRPr lang="en-US" b="1" dirty="0"/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         elementwise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442DDA-8FB9-4DFF-84B2-15BA777E0A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226962" cy="4351338"/>
              </a:xfrm>
              <a:blipFill>
                <a:blip r:embed="rId3"/>
                <a:stretch>
                  <a:fillRect t="-1261" r="-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4FB370-1F15-49EF-9300-C0B0C076D48F}"/>
                  </a:ext>
                </a:extLst>
              </p:cNvPr>
              <p:cNvSpPr txBox="1"/>
              <p:nvPr/>
            </p:nvSpPr>
            <p:spPr>
              <a:xfrm>
                <a:off x="3052691" y="5832300"/>
                <a:ext cx="1821766" cy="7698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SG" sz="28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SG" sz="28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……………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groupChr>
                        </m:e>
                        <m:lim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p>
                        </m:lim>
                      </m:limLow>
                    </m:oMath>
                  </m:oMathPara>
                </a14:m>
                <a:endParaRPr lang="en-SG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4FB370-1F15-49EF-9300-C0B0C076D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691" y="5832300"/>
                <a:ext cx="1821766" cy="769826"/>
              </a:xfrm>
              <a:prstGeom prst="rect">
                <a:avLst/>
              </a:prstGeom>
              <a:blipFill>
                <a:blip r:embed="rId4"/>
                <a:stretch>
                  <a:fillRect l="-334" r="-3344" b="-79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274FE9-BA17-4816-9017-0B61C70C9DFF}"/>
                  </a:ext>
                </a:extLst>
              </p:cNvPr>
              <p:cNvSpPr txBox="1"/>
              <p:nvPr/>
            </p:nvSpPr>
            <p:spPr>
              <a:xfrm>
                <a:off x="6864533" y="5434144"/>
                <a:ext cx="1430383" cy="609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274FE9-BA17-4816-9017-0B61C70C9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533" y="5434144"/>
                <a:ext cx="1430383" cy="6094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862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8E456-EE3C-4674-A20B-7F261C566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 unit activation functions </a:t>
            </a:r>
            <a:r>
              <a:rPr lang="en-US" i="1" dirty="0"/>
              <a:t>h</a:t>
            </a:r>
            <a:r>
              <a:rPr lang="en-US" dirty="0"/>
              <a:t>(.)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EF35B8-1DCE-4507-AA33-A55F3CCFB8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R</a:t>
                </a:r>
                <a:r>
                  <a:rPr lang="en-SG" dirty="0" err="1"/>
                  <a:t>ectified</a:t>
                </a:r>
                <a:r>
                  <a:rPr lang="en-SG" dirty="0"/>
                  <a:t> linear unit </a:t>
                </a:r>
                <a:r>
                  <a:rPr lang="en-SG" dirty="0" err="1"/>
                  <a:t>ReLU</a:t>
                </a:r>
                <a:r>
                  <a:rPr lang="en-SG" dirty="0"/>
                  <a:t> </a:t>
                </a:r>
              </a:p>
              <a:p>
                <a:pPr marL="0" indent="0">
                  <a:buNone/>
                </a:pPr>
                <a:r>
                  <a:rPr lang="en-SG" b="0" dirty="0"/>
                  <a:t>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func>
                  </m:oMath>
                </a14:m>
                <a:endParaRPr lang="en-SG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</a:t>
                </a:r>
                <a:r>
                  <a:rPr lang="en-SG" dirty="0" err="1"/>
                  <a:t>ogistic</a:t>
                </a:r>
                <a:r>
                  <a:rPr lang="en-SG" dirty="0"/>
                  <a:t> sigmoid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EF35B8-1DCE-4507-AA33-A55F3CCFB8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5FD5A91-3BA6-4083-9C3A-282DF4550C07}"/>
              </a:ext>
            </a:extLst>
          </p:cNvPr>
          <p:cNvCxnSpPr/>
          <p:nvPr/>
        </p:nvCxnSpPr>
        <p:spPr>
          <a:xfrm>
            <a:off x="6428935" y="3657600"/>
            <a:ext cx="1962443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D61569-CB36-4A3B-9874-060ECEF8B7CF}"/>
              </a:ext>
            </a:extLst>
          </p:cNvPr>
          <p:cNvCxnSpPr/>
          <p:nvPr/>
        </p:nvCxnSpPr>
        <p:spPr>
          <a:xfrm flipV="1">
            <a:off x="7350369" y="2426677"/>
            <a:ext cx="0" cy="1230923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DF4153-F255-4A06-B952-A771CBFB09AF}"/>
              </a:ext>
            </a:extLst>
          </p:cNvPr>
          <p:cNvCxnSpPr/>
          <p:nvPr/>
        </p:nvCxnSpPr>
        <p:spPr>
          <a:xfrm flipV="1">
            <a:off x="7350369" y="2736166"/>
            <a:ext cx="745588" cy="921434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22649C-717F-494D-936D-130D265CB0A5}"/>
              </a:ext>
            </a:extLst>
          </p:cNvPr>
          <p:cNvCxnSpPr/>
          <p:nvPr/>
        </p:nvCxnSpPr>
        <p:spPr>
          <a:xfrm>
            <a:off x="6295292" y="3657600"/>
            <a:ext cx="1055077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743521-FEFD-409B-B0D5-33A68F839D47}"/>
                  </a:ext>
                </a:extLst>
              </p:cNvPr>
              <p:cNvSpPr txBox="1"/>
              <p:nvPr/>
            </p:nvSpPr>
            <p:spPr>
              <a:xfrm>
                <a:off x="8095957" y="3805311"/>
                <a:ext cx="3587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743521-FEFD-409B-B0D5-33A68F839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5957" y="3805311"/>
                <a:ext cx="35872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854B7E-BA86-4D17-B1AD-58B62E369B92}"/>
                  </a:ext>
                </a:extLst>
              </p:cNvPr>
              <p:cNvSpPr txBox="1"/>
              <p:nvPr/>
            </p:nvSpPr>
            <p:spPr>
              <a:xfrm>
                <a:off x="6911929" y="2093741"/>
                <a:ext cx="3587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854B7E-BA86-4D17-B1AD-58B62E369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1929" y="2093741"/>
                <a:ext cx="358726" cy="369332"/>
              </a:xfrm>
              <a:prstGeom prst="rect">
                <a:avLst/>
              </a:prstGeom>
              <a:blipFill>
                <a:blip r:embed="rId4"/>
                <a:stretch>
                  <a:fillRect r="-83051" b="-1639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506379-5A6B-43BB-961C-8533DFF65A6A}"/>
                  </a:ext>
                </a:extLst>
              </p:cNvPr>
              <p:cNvSpPr txBox="1"/>
              <p:nvPr/>
            </p:nvSpPr>
            <p:spPr>
              <a:xfrm>
                <a:off x="1087582" y="6305983"/>
                <a:ext cx="23829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SG" dirty="0"/>
                  <a:t>: </a:t>
                </a:r>
                <a:r>
                  <a:rPr lang="en-SG" dirty="0" err="1"/>
                  <a:t>softmax</a:t>
                </a:r>
                <a:endParaRPr lang="en-SG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506379-5A6B-43BB-961C-8533DFF65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582" y="6305983"/>
                <a:ext cx="2382982" cy="369332"/>
              </a:xfrm>
              <a:prstGeom prst="rect">
                <a:avLst/>
              </a:prstGeom>
              <a:blipFill>
                <a:blip r:embed="rId5"/>
                <a:stretch>
                  <a:fillRect l="-767" t="-8197" b="-245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8745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48ACC69-1F92-4C44-BAD0-08986DCE9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645" y="3196433"/>
            <a:ext cx="3987293" cy="3583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993738-78A4-4202-A97E-DE6251268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approximation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73488-6B40-48B2-B8D2-A7161D75C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wide range of activation functions, the two-layer network can approximate any continuous function given enough hidden layer units.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2A4647-D593-4A7D-A7EF-6F755C434BEA}"/>
                  </a:ext>
                </a:extLst>
              </p:cNvPr>
              <p:cNvSpPr txBox="1"/>
              <p:nvPr/>
            </p:nvSpPr>
            <p:spPr>
              <a:xfrm>
                <a:off x="731519" y="4748178"/>
                <a:ext cx="3037115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A simple network can be trained to represent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dirty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1600" dirty="0"/>
                  <a:t>, 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, respectively (use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tanh</m:t>
                    </m:r>
                  </m:oMath>
                </a14:m>
                <a:r>
                  <a:rPr lang="en-US" sz="1600" dirty="0"/>
                  <a:t> activation function with 50 points). Figure 6.10 in Bishop, “Deep Learning.” </a:t>
                </a:r>
                <a:endParaRPr lang="en-SG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2A4647-D593-4A7D-A7EF-6F755C434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4748178"/>
                <a:ext cx="3037115" cy="1815882"/>
              </a:xfrm>
              <a:prstGeom prst="rect">
                <a:avLst/>
              </a:prstGeom>
              <a:blipFill>
                <a:blip r:embed="rId3"/>
                <a:stretch>
                  <a:fillRect l="-1004" t="-1007" b="-335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301E5F6-567F-4F12-B444-3F6CAFEB006D}"/>
                  </a:ext>
                </a:extLst>
              </p:cNvPr>
              <p:cNvSpPr/>
              <p:nvPr/>
            </p:nvSpPr>
            <p:spPr>
              <a:xfrm>
                <a:off x="873052" y="3857897"/>
                <a:ext cx="352697" cy="3265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S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301E5F6-567F-4F12-B444-3F6CAFEB00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052" y="3857897"/>
                <a:ext cx="352697" cy="3265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5B4D27E-F5F5-4DF1-982E-B12BBDAC5028}"/>
                  </a:ext>
                </a:extLst>
              </p:cNvPr>
              <p:cNvSpPr/>
              <p:nvPr/>
            </p:nvSpPr>
            <p:spPr>
              <a:xfrm>
                <a:off x="1804871" y="3489958"/>
                <a:ext cx="352697" cy="3265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5B4D27E-F5F5-4DF1-982E-B12BBDAC50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871" y="3489958"/>
                <a:ext cx="352697" cy="326572"/>
              </a:xfrm>
              <a:prstGeom prst="ellipse">
                <a:avLst/>
              </a:prstGeom>
              <a:blipFill>
                <a:blip r:embed="rId5"/>
                <a:stretch>
                  <a:fillRect l="-5000" b="-714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A18BEDA-419A-4A2E-801E-8886D2C516BB}"/>
                  </a:ext>
                </a:extLst>
              </p:cNvPr>
              <p:cNvSpPr/>
              <p:nvPr/>
            </p:nvSpPr>
            <p:spPr>
              <a:xfrm>
                <a:off x="1811400" y="3973286"/>
                <a:ext cx="352697" cy="3265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A18BEDA-419A-4A2E-801E-8886D2C516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400" y="3973286"/>
                <a:ext cx="352697" cy="326572"/>
              </a:xfrm>
              <a:prstGeom prst="ellipse">
                <a:avLst/>
              </a:prstGeom>
              <a:blipFill>
                <a:blip r:embed="rId6"/>
                <a:stretch>
                  <a:fillRect l="-5000" b="-90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A0B133F-9031-47A1-9F0C-09200AD04FAE}"/>
                  </a:ext>
                </a:extLst>
              </p:cNvPr>
              <p:cNvSpPr/>
              <p:nvPr/>
            </p:nvSpPr>
            <p:spPr>
              <a:xfrm>
                <a:off x="1804873" y="4495793"/>
                <a:ext cx="352697" cy="3265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A0B133F-9031-47A1-9F0C-09200AD04F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873" y="4495793"/>
                <a:ext cx="352697" cy="326572"/>
              </a:xfrm>
              <a:prstGeom prst="ellipse">
                <a:avLst/>
              </a:prstGeom>
              <a:blipFill>
                <a:blip r:embed="rId7"/>
                <a:stretch>
                  <a:fillRect l="-5000" b="-714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793BEE9B-84AD-43EF-9C5C-1E95356122D4}"/>
                  </a:ext>
                </a:extLst>
              </p:cNvPr>
              <p:cNvSpPr/>
              <p:nvPr/>
            </p:nvSpPr>
            <p:spPr>
              <a:xfrm>
                <a:off x="2771524" y="3862252"/>
                <a:ext cx="333103" cy="326572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793BEE9B-84AD-43EF-9C5C-1E95356122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524" y="3862252"/>
                <a:ext cx="333103" cy="326572"/>
              </a:xfrm>
              <a:prstGeom prst="roundRect">
                <a:avLst/>
              </a:prstGeom>
              <a:blipFill>
                <a:blip r:embed="rId8"/>
                <a:stretch>
                  <a:fillRect b="-1636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0B54D7-F1E5-42C1-884D-2717D1FCF7BE}"/>
              </a:ext>
            </a:extLst>
          </p:cNvPr>
          <p:cNvCxnSpPr/>
          <p:nvPr/>
        </p:nvCxnSpPr>
        <p:spPr>
          <a:xfrm flipV="1">
            <a:off x="1312817" y="3722914"/>
            <a:ext cx="444137" cy="300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B12788D-85EE-4DF5-9A0E-F1BA76EF0010}"/>
              </a:ext>
            </a:extLst>
          </p:cNvPr>
          <p:cNvCxnSpPr/>
          <p:nvPr/>
        </p:nvCxnSpPr>
        <p:spPr>
          <a:xfrm>
            <a:off x="1312817" y="4088674"/>
            <a:ext cx="4441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FA685B-A860-4B05-B61C-3154EFB3DE1F}"/>
              </a:ext>
            </a:extLst>
          </p:cNvPr>
          <p:cNvCxnSpPr/>
          <p:nvPr/>
        </p:nvCxnSpPr>
        <p:spPr>
          <a:xfrm>
            <a:off x="1312817" y="4184469"/>
            <a:ext cx="444137" cy="311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1096899-0214-44E1-BB85-0FD457BB32C8}"/>
              </a:ext>
            </a:extLst>
          </p:cNvPr>
          <p:cNvCxnSpPr/>
          <p:nvPr/>
        </p:nvCxnSpPr>
        <p:spPr>
          <a:xfrm>
            <a:off x="2279469" y="3722914"/>
            <a:ext cx="359228" cy="20247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AB965E-2453-40A0-93A3-EF035195BAA0}"/>
              </a:ext>
            </a:extLst>
          </p:cNvPr>
          <p:cNvCxnSpPr/>
          <p:nvPr/>
        </p:nvCxnSpPr>
        <p:spPr>
          <a:xfrm>
            <a:off x="2266406" y="4099563"/>
            <a:ext cx="35269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D50A792-E477-4EE0-9C28-44F4F7A52DC9}"/>
              </a:ext>
            </a:extLst>
          </p:cNvPr>
          <p:cNvCxnSpPr/>
          <p:nvPr/>
        </p:nvCxnSpPr>
        <p:spPr>
          <a:xfrm flipV="1">
            <a:off x="2279469" y="4184469"/>
            <a:ext cx="404948" cy="36793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307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E2FF-D52A-42A5-815E-86558129D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free lunch theorem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77C3-B2DA-4147-BA0E-527BB1F01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single optimization or machine learning algorithm is universally superior to all others across all possible problems.</a:t>
            </a:r>
          </a:p>
          <a:p>
            <a:endParaRPr lang="en-US" dirty="0"/>
          </a:p>
          <a:p>
            <a:r>
              <a:rPr lang="en-US" dirty="0"/>
              <a:t>“algorithm” – method of generalization given past observations.  </a:t>
            </a:r>
          </a:p>
          <a:p>
            <a:endParaRPr lang="en-US" dirty="0"/>
          </a:p>
          <a:p>
            <a:r>
              <a:rPr lang="en-US" dirty="0"/>
              <a:t>Inductive bias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12161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793A7-A35D-4E99-8817-1F64CA1B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network, how deep is deep?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9C1DE4-23EE-4B1F-BBC6-8F7086172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8583"/>
            <a:ext cx="91440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A71E17-AE1A-4DD8-8377-2107F7309466}"/>
              </a:ext>
            </a:extLst>
          </p:cNvPr>
          <p:cNvSpPr txBox="1"/>
          <p:nvPr/>
        </p:nvSpPr>
        <p:spPr>
          <a:xfrm>
            <a:off x="463730" y="6492241"/>
            <a:ext cx="747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https://lamarr-institute.org/blog/deep-neural-networks/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D3749-C67D-44CF-AE8A-A1CE813C67D6}"/>
              </a:ext>
            </a:extLst>
          </p:cNvPr>
          <p:cNvSpPr txBox="1"/>
          <p:nvPr/>
        </p:nvSpPr>
        <p:spPr>
          <a:xfrm>
            <a:off x="7107381" y="1263084"/>
            <a:ext cx="1780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representation learning, transfer learning, contrastive learning</a:t>
            </a: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814188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A58B0-1266-4641-8216-A9C806702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Error/loss/cost function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4BC0E4-7D64-404F-B972-B003741A6E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E.g., least squares for regression.  Given the an input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and weights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, we assume the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follows a Gaussian distribution.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Assuming the data points are independent, identically distributed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Maximize the likelihood above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4BC0E4-7D64-404F-B972-B003741A6E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361" r="-2937" b="-336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3109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53FDE-BCA1-4331-9404-48AEE9A68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Maximize likelihood, minimize error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AE6A0-C5CC-45D5-9FE8-BF94B01510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/(2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func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Error: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AE6A0-C5CC-45D5-9FE8-BF94B01510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314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24F9D-528A-4F2E-ACDD-FD6F74659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classification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1C7673-D799-48BD-AEEE-0E22C5D201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SG" dirty="0"/>
                  <a:t> be the predicted probability if in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SG" dirty="0"/>
                  <a:t> (in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SG" dirty="0"/>
                  <a:t>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 ).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SG" dirty="0"/>
              </a:p>
              <a:p>
                <a:r>
                  <a:rPr lang="en-US" dirty="0"/>
                  <a:t>L</a:t>
                </a:r>
                <a:r>
                  <a:rPr lang="en-SG" dirty="0" err="1"/>
                  <a:t>ikelihood</a:t>
                </a:r>
                <a:r>
                  <a:rPr lang="en-SG" dirty="0"/>
                  <a:t> is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SG" dirty="0"/>
              </a:p>
              <a:p>
                <a:r>
                  <a:rPr lang="en-US" dirty="0"/>
                  <a:t>N</a:t>
                </a:r>
                <a:r>
                  <a:rPr lang="en-SG" dirty="0" err="1"/>
                  <a:t>egative</a:t>
                </a:r>
                <a:r>
                  <a:rPr lang="en-SG" dirty="0"/>
                  <a:t> log likelihood is the cross-entropy error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⁡(1−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1C7673-D799-48BD-AEEE-0E22C5D201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5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C76444-2017-4889-A5E3-C1BEE06A8B63}"/>
                  </a:ext>
                </a:extLst>
              </p:cNvPr>
              <p:cNvSpPr txBox="1"/>
              <p:nvPr/>
            </p:nvSpPr>
            <p:spPr>
              <a:xfrm>
                <a:off x="7171459" y="3151909"/>
                <a:ext cx="13438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SG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C76444-2017-4889-A5E3-C1BEE06A8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459" y="3151909"/>
                <a:ext cx="1343891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51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88715F-B962-4558-BD6F-A335405F16F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-different categories, e.g., recognize the handwritten letters from 0 to 9</a:t>
                </a:r>
                <a:endParaRPr lang="en-SG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88715F-B962-4558-BD6F-A335405F16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705" t="-29032" b="-3548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1E6771-BB23-42C4-90B6-6AF5907282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414443"/>
                <a:ext cx="7886700" cy="430501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probability of a single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</a:t>
                </a:r>
                <a:r>
                  <a:rPr lang="en-SG" dirty="0"/>
                  <a:t>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SG" dirty="0"/>
                  <a:t> is the one-hot-encoding vector,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SG" dirty="0"/>
                  <a:t> is predicted probability through the </a:t>
                </a:r>
                <a:r>
                  <a:rPr lang="en-SG" dirty="0" err="1"/>
                  <a:t>softmax</a:t>
                </a:r>
                <a:endParaRPr lang="en-SG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en-SG" dirty="0"/>
                  <a:t> 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SG" dirty="0"/>
                  <a:t> is the last layer output)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1E6771-BB23-42C4-90B6-6AF5907282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414443"/>
                <a:ext cx="7886700" cy="4305012"/>
              </a:xfrm>
              <a:blipFill>
                <a:blip r:embed="rId4"/>
                <a:stretch>
                  <a:fillRect l="-1391" t="-2550" r="-27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5412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41036-3659-4E82-B834-099453F3F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(find minimum of error function)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99C0BD-6354-4851-BF08-1A76A4C0B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836" y="1916566"/>
            <a:ext cx="3843610" cy="415621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58D3865-9295-45A3-95FA-5A0AB5B4B098}"/>
              </a:ext>
            </a:extLst>
          </p:cNvPr>
          <p:cNvCxnSpPr/>
          <p:nvPr/>
        </p:nvCxnSpPr>
        <p:spPr>
          <a:xfrm>
            <a:off x="1429380" y="4798593"/>
            <a:ext cx="17830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9B307E-28E9-4D10-AC33-17041B460F74}"/>
              </a:ext>
            </a:extLst>
          </p:cNvPr>
          <p:cNvCxnSpPr/>
          <p:nvPr/>
        </p:nvCxnSpPr>
        <p:spPr>
          <a:xfrm>
            <a:off x="1429380" y="4798593"/>
            <a:ext cx="0" cy="13841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2306E3-ECAA-4C0F-A470-900524E9A105}"/>
                  </a:ext>
                </a:extLst>
              </p:cNvPr>
              <p:cNvSpPr txBox="1"/>
              <p:nvPr/>
            </p:nvSpPr>
            <p:spPr>
              <a:xfrm>
                <a:off x="3291843" y="4789500"/>
                <a:ext cx="325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2306E3-ECAA-4C0F-A470-900524E9A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843" y="4789500"/>
                <a:ext cx="325554" cy="369332"/>
              </a:xfrm>
              <a:prstGeom prst="rect">
                <a:avLst/>
              </a:prstGeom>
              <a:blipFill>
                <a:blip r:embed="rId3"/>
                <a:stretch>
                  <a:fillRect r="-24528" b="-3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B7ECC23-D041-4DFC-9A88-279FECE80E27}"/>
                  </a:ext>
                </a:extLst>
              </p:cNvPr>
              <p:cNvSpPr txBox="1"/>
              <p:nvPr/>
            </p:nvSpPr>
            <p:spPr>
              <a:xfrm>
                <a:off x="1263757" y="6229091"/>
                <a:ext cx="325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B7ECC23-D041-4DFC-9A88-279FECE80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757" y="6229091"/>
                <a:ext cx="325554" cy="369332"/>
              </a:xfrm>
              <a:prstGeom prst="rect">
                <a:avLst/>
              </a:prstGeom>
              <a:blipFill>
                <a:blip r:embed="rId4"/>
                <a:stretch>
                  <a:fillRect r="-25926" b="-3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78A3409-4107-4CCF-942D-E0978857A36A}"/>
              </a:ext>
            </a:extLst>
          </p:cNvPr>
          <p:cNvSpPr/>
          <p:nvPr/>
        </p:nvSpPr>
        <p:spPr>
          <a:xfrm>
            <a:off x="2223480" y="5175546"/>
            <a:ext cx="196335" cy="199026"/>
          </a:xfrm>
          <a:custGeom>
            <a:avLst/>
            <a:gdLst>
              <a:gd name="connsiteX0" fmla="*/ 20319 w 196335"/>
              <a:gd name="connsiteY0" fmla="*/ 57639 h 199026"/>
              <a:gd name="connsiteX1" fmla="*/ 118793 w 196335"/>
              <a:gd name="connsiteY1" fmla="*/ 1368 h 199026"/>
              <a:gd name="connsiteX2" fmla="*/ 196165 w 196335"/>
              <a:gd name="connsiteY2" fmla="*/ 113909 h 199026"/>
              <a:gd name="connsiteX3" fmla="*/ 97692 w 196335"/>
              <a:gd name="connsiteY3" fmla="*/ 198316 h 199026"/>
              <a:gd name="connsiteX4" fmla="*/ 6252 w 196335"/>
              <a:gd name="connsiteY4" fmla="*/ 149079 h 199026"/>
              <a:gd name="connsiteX5" fmla="*/ 20319 w 196335"/>
              <a:gd name="connsiteY5" fmla="*/ 57639 h 199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335" h="199026">
                <a:moveTo>
                  <a:pt x="20319" y="57639"/>
                </a:moveTo>
                <a:cubicBezTo>
                  <a:pt x="39076" y="33020"/>
                  <a:pt x="89486" y="-8010"/>
                  <a:pt x="118793" y="1368"/>
                </a:cubicBezTo>
                <a:cubicBezTo>
                  <a:pt x="148100" y="10746"/>
                  <a:pt x="199682" y="81084"/>
                  <a:pt x="196165" y="113909"/>
                </a:cubicBezTo>
                <a:cubicBezTo>
                  <a:pt x="192648" y="146734"/>
                  <a:pt x="129344" y="192454"/>
                  <a:pt x="97692" y="198316"/>
                </a:cubicBezTo>
                <a:cubicBezTo>
                  <a:pt x="66040" y="204178"/>
                  <a:pt x="19147" y="172525"/>
                  <a:pt x="6252" y="149079"/>
                </a:cubicBezTo>
                <a:cubicBezTo>
                  <a:pt x="-6643" y="125633"/>
                  <a:pt x="1562" y="82258"/>
                  <a:pt x="20319" y="57639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8DADB36-0985-41CF-839C-AC29BF86D5A1}"/>
              </a:ext>
            </a:extLst>
          </p:cNvPr>
          <p:cNvSpPr/>
          <p:nvPr/>
        </p:nvSpPr>
        <p:spPr>
          <a:xfrm>
            <a:off x="1674286" y="5005025"/>
            <a:ext cx="145133" cy="156074"/>
          </a:xfrm>
          <a:custGeom>
            <a:avLst/>
            <a:gdLst>
              <a:gd name="connsiteX0" fmla="*/ 20319 w 196335"/>
              <a:gd name="connsiteY0" fmla="*/ 57639 h 199026"/>
              <a:gd name="connsiteX1" fmla="*/ 118793 w 196335"/>
              <a:gd name="connsiteY1" fmla="*/ 1368 h 199026"/>
              <a:gd name="connsiteX2" fmla="*/ 196165 w 196335"/>
              <a:gd name="connsiteY2" fmla="*/ 113909 h 199026"/>
              <a:gd name="connsiteX3" fmla="*/ 97692 w 196335"/>
              <a:gd name="connsiteY3" fmla="*/ 198316 h 199026"/>
              <a:gd name="connsiteX4" fmla="*/ 6252 w 196335"/>
              <a:gd name="connsiteY4" fmla="*/ 149079 h 199026"/>
              <a:gd name="connsiteX5" fmla="*/ 20319 w 196335"/>
              <a:gd name="connsiteY5" fmla="*/ 57639 h 199026"/>
              <a:gd name="connsiteX0" fmla="*/ 20319 w 161363"/>
              <a:gd name="connsiteY0" fmla="*/ 57113 h 198500"/>
              <a:gd name="connsiteX1" fmla="*/ 118793 w 161363"/>
              <a:gd name="connsiteY1" fmla="*/ 842 h 198500"/>
              <a:gd name="connsiteX2" fmla="*/ 160996 w 161363"/>
              <a:gd name="connsiteY2" fmla="*/ 99316 h 198500"/>
              <a:gd name="connsiteX3" fmla="*/ 97692 w 161363"/>
              <a:gd name="connsiteY3" fmla="*/ 197790 h 198500"/>
              <a:gd name="connsiteX4" fmla="*/ 6252 w 161363"/>
              <a:gd name="connsiteY4" fmla="*/ 148553 h 198500"/>
              <a:gd name="connsiteX5" fmla="*/ 20319 w 161363"/>
              <a:gd name="connsiteY5" fmla="*/ 57113 h 198500"/>
              <a:gd name="connsiteX0" fmla="*/ 21882 w 162559"/>
              <a:gd name="connsiteY0" fmla="*/ 57113 h 160475"/>
              <a:gd name="connsiteX1" fmla="*/ 120356 w 162559"/>
              <a:gd name="connsiteY1" fmla="*/ 842 h 160475"/>
              <a:gd name="connsiteX2" fmla="*/ 162559 w 162559"/>
              <a:gd name="connsiteY2" fmla="*/ 99316 h 160475"/>
              <a:gd name="connsiteX3" fmla="*/ 120357 w 162559"/>
              <a:gd name="connsiteY3" fmla="*/ 155587 h 160475"/>
              <a:gd name="connsiteX4" fmla="*/ 7815 w 162559"/>
              <a:gd name="connsiteY4" fmla="*/ 148553 h 160475"/>
              <a:gd name="connsiteX5" fmla="*/ 21882 w 162559"/>
              <a:gd name="connsiteY5" fmla="*/ 57113 h 160475"/>
              <a:gd name="connsiteX0" fmla="*/ 4456 w 145133"/>
              <a:gd name="connsiteY0" fmla="*/ 57001 h 156074"/>
              <a:gd name="connsiteX1" fmla="*/ 102930 w 145133"/>
              <a:gd name="connsiteY1" fmla="*/ 730 h 156074"/>
              <a:gd name="connsiteX2" fmla="*/ 145133 w 145133"/>
              <a:gd name="connsiteY2" fmla="*/ 99204 h 156074"/>
              <a:gd name="connsiteX3" fmla="*/ 102931 w 145133"/>
              <a:gd name="connsiteY3" fmla="*/ 155475 h 156074"/>
              <a:gd name="connsiteX4" fmla="*/ 25558 w 145133"/>
              <a:gd name="connsiteY4" fmla="*/ 106238 h 156074"/>
              <a:gd name="connsiteX5" fmla="*/ 4456 w 145133"/>
              <a:gd name="connsiteY5" fmla="*/ 57001 h 15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133" h="156074">
                <a:moveTo>
                  <a:pt x="4456" y="57001"/>
                </a:moveTo>
                <a:cubicBezTo>
                  <a:pt x="17351" y="39416"/>
                  <a:pt x="79484" y="-6304"/>
                  <a:pt x="102930" y="730"/>
                </a:cubicBezTo>
                <a:cubicBezTo>
                  <a:pt x="126376" y="7764"/>
                  <a:pt x="145133" y="73413"/>
                  <a:pt x="145133" y="99204"/>
                </a:cubicBezTo>
                <a:cubicBezTo>
                  <a:pt x="145133" y="124995"/>
                  <a:pt x="134583" y="149613"/>
                  <a:pt x="102931" y="155475"/>
                </a:cubicBezTo>
                <a:cubicBezTo>
                  <a:pt x="71279" y="161337"/>
                  <a:pt x="41971" y="122650"/>
                  <a:pt x="25558" y="106238"/>
                </a:cubicBezTo>
                <a:cubicBezTo>
                  <a:pt x="9145" y="89826"/>
                  <a:pt x="-8439" y="74586"/>
                  <a:pt x="4456" y="5700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621FF3-604F-4DA0-9FFE-5E223FD19241}"/>
              </a:ext>
            </a:extLst>
          </p:cNvPr>
          <p:cNvSpPr/>
          <p:nvPr/>
        </p:nvSpPr>
        <p:spPr>
          <a:xfrm>
            <a:off x="1547449" y="4965898"/>
            <a:ext cx="1103019" cy="570444"/>
          </a:xfrm>
          <a:custGeom>
            <a:avLst/>
            <a:gdLst>
              <a:gd name="connsiteX0" fmla="*/ 1019907 w 1103019"/>
              <a:gd name="connsiteY0" fmla="*/ 0 h 570444"/>
              <a:gd name="connsiteX1" fmla="*/ 1097280 w 1103019"/>
              <a:gd name="connsiteY1" fmla="*/ 119575 h 570444"/>
              <a:gd name="connsiteX2" fmla="*/ 1090246 w 1103019"/>
              <a:gd name="connsiteY2" fmla="*/ 316523 h 570444"/>
              <a:gd name="connsiteX3" fmla="*/ 1033975 w 1103019"/>
              <a:gd name="connsiteY3" fmla="*/ 513471 h 570444"/>
              <a:gd name="connsiteX4" fmla="*/ 801858 w 1103019"/>
              <a:gd name="connsiteY4" fmla="*/ 569741 h 570444"/>
              <a:gd name="connsiteX5" fmla="*/ 492369 w 1103019"/>
              <a:gd name="connsiteY5" fmla="*/ 485335 h 570444"/>
              <a:gd name="connsiteX6" fmla="*/ 393895 w 1103019"/>
              <a:gd name="connsiteY6" fmla="*/ 414997 h 570444"/>
              <a:gd name="connsiteX7" fmla="*/ 126609 w 1103019"/>
              <a:gd name="connsiteY7" fmla="*/ 400929 h 570444"/>
              <a:gd name="connsiteX8" fmla="*/ 0 w 1103019"/>
              <a:gd name="connsiteY8" fmla="*/ 302455 h 570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019" h="570444">
                <a:moveTo>
                  <a:pt x="1019907" y="0"/>
                </a:moveTo>
                <a:cubicBezTo>
                  <a:pt x="1052732" y="33410"/>
                  <a:pt x="1085557" y="66821"/>
                  <a:pt x="1097280" y="119575"/>
                </a:cubicBezTo>
                <a:cubicBezTo>
                  <a:pt x="1109003" y="172329"/>
                  <a:pt x="1100797" y="250874"/>
                  <a:pt x="1090246" y="316523"/>
                </a:cubicBezTo>
                <a:cubicBezTo>
                  <a:pt x="1079695" y="382172"/>
                  <a:pt x="1082040" y="471268"/>
                  <a:pt x="1033975" y="513471"/>
                </a:cubicBezTo>
                <a:cubicBezTo>
                  <a:pt x="985910" y="555674"/>
                  <a:pt x="892126" y="574430"/>
                  <a:pt x="801858" y="569741"/>
                </a:cubicBezTo>
                <a:cubicBezTo>
                  <a:pt x="711590" y="565052"/>
                  <a:pt x="560363" y="511126"/>
                  <a:pt x="492369" y="485335"/>
                </a:cubicBezTo>
                <a:cubicBezTo>
                  <a:pt x="424375" y="459544"/>
                  <a:pt x="454855" y="429065"/>
                  <a:pt x="393895" y="414997"/>
                </a:cubicBezTo>
                <a:cubicBezTo>
                  <a:pt x="332935" y="400929"/>
                  <a:pt x="192258" y="419686"/>
                  <a:pt x="126609" y="400929"/>
                </a:cubicBezTo>
                <a:cubicBezTo>
                  <a:pt x="60960" y="382172"/>
                  <a:pt x="30480" y="342313"/>
                  <a:pt x="0" y="30245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7A2F51-BD74-4DEA-88FC-EA1CDF350729}"/>
              </a:ext>
            </a:extLst>
          </p:cNvPr>
          <p:cNvCxnSpPr>
            <a:stCxn id="15" idx="3"/>
          </p:cNvCxnSpPr>
          <p:nvPr/>
        </p:nvCxnSpPr>
        <p:spPr>
          <a:xfrm>
            <a:off x="2581424" y="5479369"/>
            <a:ext cx="246185" cy="211015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5BC6A40-7DA2-4A02-A4E1-E78628DFFF8D}"/>
                  </a:ext>
                </a:extLst>
              </p:cNvPr>
              <p:cNvSpPr txBox="1"/>
              <p:nvPr/>
            </p:nvSpPr>
            <p:spPr>
              <a:xfrm>
                <a:off x="2912015" y="5690384"/>
                <a:ext cx="3004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5BC6A40-7DA2-4A02-A4E1-E78628DFF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015" y="5690384"/>
                <a:ext cx="300443" cy="369332"/>
              </a:xfrm>
              <a:prstGeom prst="rect">
                <a:avLst/>
              </a:prstGeom>
              <a:blipFill>
                <a:blip r:embed="rId5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D0C3E8-3B4F-451E-B213-F6A4956D430A}"/>
                  </a:ext>
                </a:extLst>
              </p:cNvPr>
              <p:cNvSpPr txBox="1"/>
              <p:nvPr/>
            </p:nvSpPr>
            <p:spPr>
              <a:xfrm>
                <a:off x="1041009" y="2096086"/>
                <a:ext cx="2665827" cy="2324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D0C3E8-3B4F-451E-B213-F6A4956D4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009" y="2096086"/>
                <a:ext cx="2665827" cy="2324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44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6D530-889B-4DB2-A89E-71E75190F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quadratic approximation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E9964-8032-4137-B062-B608CF105B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dirty="0"/>
              </a:p>
              <a:p>
                <a:endParaRPr lang="en-US" dirty="0"/>
              </a:p>
              <a:p>
                <a:r>
                  <a:rPr lang="en-US" dirty="0"/>
                  <a:t>w</a:t>
                </a:r>
                <a:r>
                  <a:rPr lang="en-SG" dirty="0"/>
                  <a:t>here derivatives evaluated at the current position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</m:oMath>
                </a14:m>
                <a:endParaRPr lang="en-SG" dirty="0"/>
              </a:p>
              <a:p>
                <a:pPr marL="457200" lvl="1" indent="0">
                  <a:buNone/>
                </a:pPr>
                <a:endParaRPr lang="en-SG" b="1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sub>
                    </m:sSub>
                  </m:oMath>
                </a14:m>
                <a:r>
                  <a:rPr lang="en-SG" dirty="0"/>
                  <a:t>  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𝛁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sub>
                    </m:sSub>
                  </m:oMath>
                </a14:m>
                <a:endParaRPr lang="en-SG" dirty="0"/>
              </a:p>
              <a:p>
                <a:endParaRPr lang="en-US" dirty="0"/>
              </a:p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element of</a:t>
                </a:r>
                <a:r>
                  <a:rPr lang="en-SG" dirty="0"/>
                  <a:t> Hessian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SG" dirty="0"/>
                  <a:t> is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E9964-8032-4137-B062-B608CF105B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6123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3DC2-37BD-4592-82EA-639AAC17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Gradient, eigen vectors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929B98-5EE9-4783-94EF-819B610CB3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gradient 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SG" dirty="0"/>
                  <a:t> is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dirty="0"/>
              </a:p>
              <a:p>
                <a:r>
                  <a:rPr lang="en-US" dirty="0"/>
                  <a:t>M</a:t>
                </a:r>
                <a:r>
                  <a:rPr lang="en-SG" dirty="0" err="1"/>
                  <a:t>inimum</a:t>
                </a:r>
                <a:r>
                  <a:rPr lang="en-SG" dirty="0"/>
                  <a:t> is at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SG" dirty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SG" dirty="0"/>
                  <a:t> or expand at optimal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r>
                  <a:rPr lang="en-US" dirty="0"/>
                  <a:t>S</a:t>
                </a:r>
                <a:r>
                  <a:rPr lang="en-SG" dirty="0" err="1"/>
                  <a:t>olve</a:t>
                </a:r>
                <a:r>
                  <a:rPr lang="en-SG" dirty="0"/>
                  <a:t> the eigenvalue problem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dirty="0"/>
                  <a:t> 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SG" dirty="0"/>
              </a:p>
              <a:p>
                <a:endParaRPr lang="en-US" dirty="0"/>
              </a:p>
              <a:p>
                <a:r>
                  <a:rPr lang="en-US" dirty="0"/>
                  <a:t>W</a:t>
                </a:r>
                <a:r>
                  <a:rPr lang="en-SG" dirty="0"/>
                  <a:t>e can expand the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929B98-5EE9-4783-94EF-819B610CB3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521" r="-123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0296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4625DD6-B5D5-4648-9AD2-29026D3558F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Property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 near a minimum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4625DD6-B5D5-4648-9AD2-29026D3558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3091" t="-13825" b="-2119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AD3F60-9F5C-45DE-9C8A-40ED87B8DC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4139293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Positive definite: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SG" dirty="0"/>
                  <a:t> for any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≠0.</m:t>
                    </m:r>
                  </m:oMath>
                </a14:m>
                <a:r>
                  <a:rPr lang="en-SG" dirty="0"/>
                  <a:t>  All eigenvalues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SG" dirty="0"/>
                  <a:t> is positive.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AD3F60-9F5C-45DE-9C8A-40ED87B8DC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4139293" cy="4351338"/>
              </a:xfrm>
              <a:blipFill>
                <a:blip r:embed="rId4"/>
                <a:stretch>
                  <a:fillRect l="-2651" t="-1821" r="-42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29456A7-3FAB-46A3-9CA6-7027A002F4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8571" y="1714343"/>
            <a:ext cx="3835841" cy="22869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E4FC06-72BB-4062-B96C-6F10C1DDE7CA}"/>
                  </a:ext>
                </a:extLst>
              </p:cNvPr>
              <p:cNvSpPr txBox="1"/>
              <p:nvPr/>
            </p:nvSpPr>
            <p:spPr>
              <a:xfrm>
                <a:off x="5127172" y="4232366"/>
                <a:ext cx="3683725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 the neighborhood of a minimum, the error function can be approximated by a quadratic.  Contours of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are ellipses whose axes are aligned with the eigenvectors of Hessian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. From fig.7.2 of Bishop. </a:t>
                </a:r>
                <a:endParaRPr lang="en-S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E4FC06-72BB-4062-B96C-6F10C1DDE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172" y="4232366"/>
                <a:ext cx="3683725" cy="2585323"/>
              </a:xfrm>
              <a:prstGeom prst="rect">
                <a:avLst/>
              </a:prstGeom>
              <a:blipFill>
                <a:blip r:embed="rId6"/>
                <a:stretch>
                  <a:fillRect l="-1325" t="-1179" r="-993" b="-283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5689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27CAC-0992-42FF-AAB8-CCFA7B38A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Optimization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2043E3-3497-4F0F-9FA9-8289529110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Move to the minimum in one step by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SG" dirty="0"/>
                  <a:t>  (Newton iteration, note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SG" dirty="0"/>
                  <a:t> are evaluated at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SG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Unfortunately</a:t>
                </a:r>
                <a:r>
                  <a:rPr lang="en-SG" dirty="0"/>
                  <a:t>, computing the inverse takes too much time, or importantly, need too much memory.  Thus, we use a much simpler method: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 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2043E3-3497-4F0F-9FA9-8289529110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361" r="-13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DE7442-F519-4432-A5A5-6FDD45F3418C}"/>
                  </a:ext>
                </a:extLst>
              </p:cNvPr>
              <p:cNvSpPr txBox="1"/>
              <p:nvPr/>
            </p:nvSpPr>
            <p:spPr>
              <a:xfrm>
                <a:off x="844061" y="6372665"/>
                <a:ext cx="6548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This is effectively treating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as a positive constant</a:t>
                </a:r>
                <a:endParaRPr lang="en-SG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DE7442-F519-4432-A5A5-6FDD45F34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061" y="6372665"/>
                <a:ext cx="6548511" cy="369332"/>
              </a:xfrm>
              <a:prstGeom prst="rect">
                <a:avLst/>
              </a:prstGeom>
              <a:blipFill>
                <a:blip r:embed="rId3"/>
                <a:stretch>
                  <a:fillRect l="-744" t="-8197" b="-245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4380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E3D0A-1318-4EE0-8B5A-50C865EC7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in the negative gradient direction</a:t>
            </a:r>
            <a:endParaRPr lang="en-SG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7773EF0-1499-4EC9-A8EC-085E7FF6C67F}"/>
              </a:ext>
            </a:extLst>
          </p:cNvPr>
          <p:cNvSpPr/>
          <p:nvPr/>
        </p:nvSpPr>
        <p:spPr>
          <a:xfrm>
            <a:off x="3101847" y="3576062"/>
            <a:ext cx="575684" cy="450669"/>
          </a:xfrm>
          <a:custGeom>
            <a:avLst/>
            <a:gdLst>
              <a:gd name="connsiteX0" fmla="*/ 157336 w 575684"/>
              <a:gd name="connsiteY0" fmla="*/ 75007 h 450669"/>
              <a:gd name="connsiteX1" fmla="*/ 582 w 575684"/>
              <a:gd name="connsiteY1" fmla="*/ 270949 h 450669"/>
              <a:gd name="connsiteX2" fmla="*/ 118147 w 575684"/>
              <a:gd name="connsiteY2" fmla="*/ 447298 h 450669"/>
              <a:gd name="connsiteX3" fmla="*/ 451250 w 575684"/>
              <a:gd name="connsiteY3" fmla="*/ 368921 h 450669"/>
              <a:gd name="connsiteX4" fmla="*/ 575347 w 575684"/>
              <a:gd name="connsiteY4" fmla="*/ 153384 h 450669"/>
              <a:gd name="connsiteX5" fmla="*/ 477376 w 575684"/>
              <a:gd name="connsiteY5" fmla="*/ 3161 h 450669"/>
              <a:gd name="connsiteX6" fmla="*/ 157336 w 575684"/>
              <a:gd name="connsiteY6" fmla="*/ 75007 h 45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5684" h="450669">
                <a:moveTo>
                  <a:pt x="157336" y="75007"/>
                </a:moveTo>
                <a:cubicBezTo>
                  <a:pt x="77870" y="119638"/>
                  <a:pt x="7113" y="208901"/>
                  <a:pt x="582" y="270949"/>
                </a:cubicBezTo>
                <a:cubicBezTo>
                  <a:pt x="-5949" y="332997"/>
                  <a:pt x="43036" y="430969"/>
                  <a:pt x="118147" y="447298"/>
                </a:cubicBezTo>
                <a:cubicBezTo>
                  <a:pt x="193258" y="463627"/>
                  <a:pt x="375050" y="417907"/>
                  <a:pt x="451250" y="368921"/>
                </a:cubicBezTo>
                <a:cubicBezTo>
                  <a:pt x="527450" y="319935"/>
                  <a:pt x="570993" y="214344"/>
                  <a:pt x="575347" y="153384"/>
                </a:cubicBezTo>
                <a:cubicBezTo>
                  <a:pt x="579701" y="92424"/>
                  <a:pt x="541602" y="18401"/>
                  <a:pt x="477376" y="3161"/>
                </a:cubicBezTo>
                <a:cubicBezTo>
                  <a:pt x="413150" y="-12079"/>
                  <a:pt x="236802" y="30376"/>
                  <a:pt x="157336" y="75007"/>
                </a:cubicBezTo>
                <a:close/>
              </a:path>
            </a:pathLst>
          </a:cu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69C84FB-8A4E-4E89-942A-2A78913A22A2}"/>
              </a:ext>
            </a:extLst>
          </p:cNvPr>
          <p:cNvSpPr/>
          <p:nvPr/>
        </p:nvSpPr>
        <p:spPr>
          <a:xfrm>
            <a:off x="2890344" y="3339428"/>
            <a:ext cx="1415021" cy="895602"/>
          </a:xfrm>
          <a:custGeom>
            <a:avLst/>
            <a:gdLst>
              <a:gd name="connsiteX0" fmla="*/ 879798 w 1415021"/>
              <a:gd name="connsiteY0" fmla="*/ 1649 h 895602"/>
              <a:gd name="connsiteX1" fmla="*/ 274887 w 1415021"/>
              <a:gd name="connsiteY1" fmla="*/ 36818 h 895602"/>
              <a:gd name="connsiteX2" fmla="*/ 92007 w 1415021"/>
              <a:gd name="connsiteY2" fmla="*/ 304104 h 895602"/>
              <a:gd name="connsiteX3" fmla="*/ 14634 w 1415021"/>
              <a:gd name="connsiteY3" fmla="*/ 782406 h 895602"/>
              <a:gd name="connsiteX4" fmla="*/ 380394 w 1415021"/>
              <a:gd name="connsiteY4" fmla="*/ 894947 h 895602"/>
              <a:gd name="connsiteX5" fmla="*/ 992339 w 1415021"/>
              <a:gd name="connsiteY5" fmla="*/ 754270 h 895602"/>
              <a:gd name="connsiteX6" fmla="*/ 1259625 w 1415021"/>
              <a:gd name="connsiteY6" fmla="*/ 543255 h 895602"/>
              <a:gd name="connsiteX7" fmla="*/ 1414370 w 1415021"/>
              <a:gd name="connsiteY7" fmla="*/ 163427 h 895602"/>
              <a:gd name="connsiteX8" fmla="*/ 1203354 w 1415021"/>
              <a:gd name="connsiteY8" fmla="*/ 29784 h 895602"/>
              <a:gd name="connsiteX9" fmla="*/ 879798 w 1415021"/>
              <a:gd name="connsiteY9" fmla="*/ 1649 h 89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15021" h="895602">
                <a:moveTo>
                  <a:pt x="879798" y="1649"/>
                </a:moveTo>
                <a:cubicBezTo>
                  <a:pt x="725054" y="2821"/>
                  <a:pt x="406185" y="-13591"/>
                  <a:pt x="274887" y="36818"/>
                </a:cubicBezTo>
                <a:cubicBezTo>
                  <a:pt x="143589" y="87227"/>
                  <a:pt x="135382" y="179839"/>
                  <a:pt x="92007" y="304104"/>
                </a:cubicBezTo>
                <a:cubicBezTo>
                  <a:pt x="48632" y="428369"/>
                  <a:pt x="-33431" y="683932"/>
                  <a:pt x="14634" y="782406"/>
                </a:cubicBezTo>
                <a:cubicBezTo>
                  <a:pt x="62698" y="880880"/>
                  <a:pt x="217443" y="899636"/>
                  <a:pt x="380394" y="894947"/>
                </a:cubicBezTo>
                <a:cubicBezTo>
                  <a:pt x="543345" y="890258"/>
                  <a:pt x="845800" y="812885"/>
                  <a:pt x="992339" y="754270"/>
                </a:cubicBezTo>
                <a:cubicBezTo>
                  <a:pt x="1138878" y="695655"/>
                  <a:pt x="1189287" y="641729"/>
                  <a:pt x="1259625" y="543255"/>
                </a:cubicBezTo>
                <a:cubicBezTo>
                  <a:pt x="1329963" y="444781"/>
                  <a:pt x="1423748" y="249005"/>
                  <a:pt x="1414370" y="163427"/>
                </a:cubicBezTo>
                <a:cubicBezTo>
                  <a:pt x="1404992" y="77849"/>
                  <a:pt x="1285415" y="56747"/>
                  <a:pt x="1203354" y="29784"/>
                </a:cubicBezTo>
                <a:cubicBezTo>
                  <a:pt x="1121293" y="2821"/>
                  <a:pt x="1034542" y="477"/>
                  <a:pt x="879798" y="1649"/>
                </a:cubicBezTo>
                <a:close/>
              </a:path>
            </a:pathLst>
          </a:cu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8FD5C6A-2560-43BA-BDA5-F31C6436E00B}"/>
              </a:ext>
            </a:extLst>
          </p:cNvPr>
          <p:cNvSpPr/>
          <p:nvPr/>
        </p:nvSpPr>
        <p:spPr>
          <a:xfrm>
            <a:off x="2509952" y="2881059"/>
            <a:ext cx="2508874" cy="1687116"/>
          </a:xfrm>
          <a:custGeom>
            <a:avLst/>
            <a:gdLst>
              <a:gd name="connsiteX0" fmla="*/ 451297 w 2508874"/>
              <a:gd name="connsiteY0" fmla="*/ 227901 h 1687116"/>
              <a:gd name="connsiteX1" fmla="*/ 226214 w 2508874"/>
              <a:gd name="connsiteY1" fmla="*/ 488153 h 1687116"/>
              <a:gd name="connsiteX2" fmla="*/ 71470 w 2508874"/>
              <a:gd name="connsiteY2" fmla="*/ 938319 h 1687116"/>
              <a:gd name="connsiteX3" fmla="*/ 8165 w 2508874"/>
              <a:gd name="connsiteY3" fmla="*/ 1339249 h 1687116"/>
              <a:gd name="connsiteX4" fmla="*/ 247316 w 2508874"/>
              <a:gd name="connsiteY4" fmla="*/ 1634670 h 1687116"/>
              <a:gd name="connsiteX5" fmla="*/ 662313 w 2508874"/>
              <a:gd name="connsiteY5" fmla="*/ 1662806 h 1687116"/>
              <a:gd name="connsiteX6" fmla="*/ 1126546 w 2508874"/>
              <a:gd name="connsiteY6" fmla="*/ 1676873 h 1687116"/>
              <a:gd name="connsiteX7" fmla="*/ 1787728 w 2508874"/>
              <a:gd name="connsiteY7" fmla="*/ 1501027 h 1687116"/>
              <a:gd name="connsiteX8" fmla="*/ 2090183 w 2508874"/>
              <a:gd name="connsiteY8" fmla="*/ 1100098 h 1687116"/>
              <a:gd name="connsiteX9" fmla="*/ 2462977 w 2508874"/>
              <a:gd name="connsiteY9" fmla="*/ 642898 h 1687116"/>
              <a:gd name="connsiteX10" fmla="*/ 2413740 w 2508874"/>
              <a:gd name="connsiteY10" fmla="*/ 178664 h 1687116"/>
              <a:gd name="connsiteX11" fmla="*/ 1661119 w 2508874"/>
              <a:gd name="connsiteY11" fmla="*/ 16886 h 1687116"/>
              <a:gd name="connsiteX12" fmla="*/ 1126546 w 2508874"/>
              <a:gd name="connsiteY12" fmla="*/ 16886 h 1687116"/>
              <a:gd name="connsiteX13" fmla="*/ 648245 w 2508874"/>
              <a:gd name="connsiteY13" fmla="*/ 122393 h 1687116"/>
              <a:gd name="connsiteX14" fmla="*/ 451297 w 2508874"/>
              <a:gd name="connsiteY14" fmla="*/ 227901 h 1687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08874" h="1687116">
                <a:moveTo>
                  <a:pt x="451297" y="227901"/>
                </a:moveTo>
                <a:cubicBezTo>
                  <a:pt x="380958" y="288861"/>
                  <a:pt x="289519" y="369750"/>
                  <a:pt x="226214" y="488153"/>
                </a:cubicBezTo>
                <a:cubicBezTo>
                  <a:pt x="162909" y="606556"/>
                  <a:pt x="107812" y="796470"/>
                  <a:pt x="71470" y="938319"/>
                </a:cubicBezTo>
                <a:cubicBezTo>
                  <a:pt x="35128" y="1080168"/>
                  <a:pt x="-21143" y="1223191"/>
                  <a:pt x="8165" y="1339249"/>
                </a:cubicBezTo>
                <a:cubicBezTo>
                  <a:pt x="37473" y="1455307"/>
                  <a:pt x="138291" y="1580744"/>
                  <a:pt x="247316" y="1634670"/>
                </a:cubicBezTo>
                <a:cubicBezTo>
                  <a:pt x="356341" y="1688596"/>
                  <a:pt x="515775" y="1655772"/>
                  <a:pt x="662313" y="1662806"/>
                </a:cubicBezTo>
                <a:cubicBezTo>
                  <a:pt x="808851" y="1669840"/>
                  <a:pt x="938977" y="1703836"/>
                  <a:pt x="1126546" y="1676873"/>
                </a:cubicBezTo>
                <a:cubicBezTo>
                  <a:pt x="1314115" y="1649910"/>
                  <a:pt x="1627122" y="1597156"/>
                  <a:pt x="1787728" y="1501027"/>
                </a:cubicBezTo>
                <a:cubicBezTo>
                  <a:pt x="1948334" y="1404898"/>
                  <a:pt x="1977642" y="1243120"/>
                  <a:pt x="2090183" y="1100098"/>
                </a:cubicBezTo>
                <a:cubicBezTo>
                  <a:pt x="2202725" y="957077"/>
                  <a:pt x="2409051" y="796470"/>
                  <a:pt x="2462977" y="642898"/>
                </a:cubicBezTo>
                <a:cubicBezTo>
                  <a:pt x="2516903" y="489326"/>
                  <a:pt x="2547383" y="282999"/>
                  <a:pt x="2413740" y="178664"/>
                </a:cubicBezTo>
                <a:cubicBezTo>
                  <a:pt x="2280097" y="74329"/>
                  <a:pt x="1875651" y="43849"/>
                  <a:pt x="1661119" y="16886"/>
                </a:cubicBezTo>
                <a:cubicBezTo>
                  <a:pt x="1446587" y="-10077"/>
                  <a:pt x="1295358" y="-698"/>
                  <a:pt x="1126546" y="16886"/>
                </a:cubicBezTo>
                <a:cubicBezTo>
                  <a:pt x="957734" y="34470"/>
                  <a:pt x="763131" y="86052"/>
                  <a:pt x="648245" y="122393"/>
                </a:cubicBezTo>
                <a:cubicBezTo>
                  <a:pt x="533359" y="158734"/>
                  <a:pt x="521636" y="166941"/>
                  <a:pt x="451297" y="227901"/>
                </a:cubicBezTo>
                <a:close/>
              </a:path>
            </a:pathLst>
          </a:cu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F2382C5-30D5-44FA-AC86-7F7D6F4CD5BC}"/>
              </a:ext>
            </a:extLst>
          </p:cNvPr>
          <p:cNvSpPr/>
          <p:nvPr/>
        </p:nvSpPr>
        <p:spPr>
          <a:xfrm>
            <a:off x="3340174" y="3748765"/>
            <a:ext cx="113632" cy="116351"/>
          </a:xfrm>
          <a:custGeom>
            <a:avLst/>
            <a:gdLst>
              <a:gd name="connsiteX0" fmla="*/ 7937 w 113632"/>
              <a:gd name="connsiteY0" fmla="*/ 28410 h 116351"/>
              <a:gd name="connsiteX1" fmla="*/ 7937 w 113632"/>
              <a:gd name="connsiteY1" fmla="*/ 105783 h 116351"/>
              <a:gd name="connsiteX2" fmla="*/ 78275 w 113632"/>
              <a:gd name="connsiteY2" fmla="*/ 105783 h 116351"/>
              <a:gd name="connsiteX3" fmla="*/ 113444 w 113632"/>
              <a:gd name="connsiteY3" fmla="*/ 14343 h 116351"/>
              <a:gd name="connsiteX4" fmla="*/ 64208 w 113632"/>
              <a:gd name="connsiteY4" fmla="*/ 275 h 116351"/>
              <a:gd name="connsiteX5" fmla="*/ 7937 w 113632"/>
              <a:gd name="connsiteY5" fmla="*/ 28410 h 116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632" h="116351">
                <a:moveTo>
                  <a:pt x="7937" y="28410"/>
                </a:moveTo>
                <a:cubicBezTo>
                  <a:pt x="-1441" y="45995"/>
                  <a:pt x="-3786" y="92888"/>
                  <a:pt x="7937" y="105783"/>
                </a:cubicBezTo>
                <a:cubicBezTo>
                  <a:pt x="19660" y="118678"/>
                  <a:pt x="60691" y="121023"/>
                  <a:pt x="78275" y="105783"/>
                </a:cubicBezTo>
                <a:cubicBezTo>
                  <a:pt x="95860" y="90543"/>
                  <a:pt x="115788" y="31928"/>
                  <a:pt x="113444" y="14343"/>
                </a:cubicBezTo>
                <a:cubicBezTo>
                  <a:pt x="111100" y="-3242"/>
                  <a:pt x="80620" y="2620"/>
                  <a:pt x="64208" y="275"/>
                </a:cubicBezTo>
                <a:cubicBezTo>
                  <a:pt x="47796" y="-2070"/>
                  <a:pt x="17315" y="10825"/>
                  <a:pt x="7937" y="28410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D030F7-64C4-4F3B-A923-2867403EB88D}"/>
              </a:ext>
            </a:extLst>
          </p:cNvPr>
          <p:cNvCxnSpPr/>
          <p:nvPr/>
        </p:nvCxnSpPr>
        <p:spPr>
          <a:xfrm>
            <a:off x="3559126" y="4235030"/>
            <a:ext cx="56271" cy="2314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E694001-A62C-4345-9164-303A03D8A1EF}"/>
                  </a:ext>
                </a:extLst>
              </p:cNvPr>
              <p:cNvSpPr txBox="1"/>
              <p:nvPr/>
            </p:nvSpPr>
            <p:spPr>
              <a:xfrm>
                <a:off x="3621259" y="4227340"/>
                <a:ext cx="3598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SG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E694001-A62C-4345-9164-303A03D8A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259" y="4227340"/>
                <a:ext cx="359897" cy="369332"/>
              </a:xfrm>
              <a:prstGeom prst="rect">
                <a:avLst/>
              </a:prstGeom>
              <a:blipFill>
                <a:blip r:embed="rId2"/>
                <a:stretch>
                  <a:fillRect r="-288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D4965C-F3B4-4D69-B443-56E87C7EDE5C}"/>
              </a:ext>
            </a:extLst>
          </p:cNvPr>
          <p:cNvCxnSpPr/>
          <p:nvPr/>
        </p:nvCxnSpPr>
        <p:spPr>
          <a:xfrm>
            <a:off x="2173458" y="5444197"/>
            <a:ext cx="26306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EA9F04-0E49-4E5F-9EA6-69B35BA033EB}"/>
              </a:ext>
            </a:extLst>
          </p:cNvPr>
          <p:cNvCxnSpPr/>
          <p:nvPr/>
        </p:nvCxnSpPr>
        <p:spPr>
          <a:xfrm flipV="1">
            <a:off x="2187525" y="2982351"/>
            <a:ext cx="0" cy="24618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2146D5-8D82-4DF3-BDDB-65AFB4DA6304}"/>
                  </a:ext>
                </a:extLst>
              </p:cNvPr>
              <p:cNvSpPr txBox="1"/>
              <p:nvPr/>
            </p:nvSpPr>
            <p:spPr>
              <a:xfrm>
                <a:off x="4951828" y="5380892"/>
                <a:ext cx="5306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2146D5-8D82-4DF3-BDDB-65AFB4DA6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828" y="5380892"/>
                <a:ext cx="530658" cy="369332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951568-360B-4E98-B2B1-CC8B68CAC018}"/>
                  </a:ext>
                </a:extLst>
              </p:cNvPr>
              <p:cNvSpPr txBox="1"/>
              <p:nvPr/>
            </p:nvSpPr>
            <p:spPr>
              <a:xfrm>
                <a:off x="1735033" y="2565018"/>
                <a:ext cx="5359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951568-360B-4E98-B2B1-CC8B68CAC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033" y="2565018"/>
                <a:ext cx="535980" cy="369332"/>
              </a:xfrm>
              <a:prstGeom prst="rect">
                <a:avLst/>
              </a:prstGeom>
              <a:blipFill>
                <a:blip r:embed="rId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ECB566-22A7-4ABB-9B58-0BFD20800341}"/>
                  </a:ext>
                </a:extLst>
              </p:cNvPr>
              <p:cNvSpPr txBox="1"/>
              <p:nvPr/>
            </p:nvSpPr>
            <p:spPr>
              <a:xfrm>
                <a:off x="3981156" y="2552280"/>
                <a:ext cx="2384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const</m:t>
                    </m:r>
                  </m:oMath>
                </a14:m>
                <a:r>
                  <a:rPr lang="en-SG" dirty="0"/>
                  <a:t> </a:t>
                </a:r>
                <a:r>
                  <a:rPr lang="en-SG" sz="1400" dirty="0"/>
                  <a:t>contour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ECB566-22A7-4ABB-9B58-0BFD20800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156" y="2552280"/>
                <a:ext cx="2384475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65C783-069C-4530-9D5A-22FF2AD8AB18}"/>
                  </a:ext>
                </a:extLst>
              </p:cNvPr>
              <p:cNvSpPr txBox="1"/>
              <p:nvPr/>
            </p:nvSpPr>
            <p:spPr>
              <a:xfrm>
                <a:off x="5936566" y="3854549"/>
                <a:ext cx="20538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𝛿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65C783-069C-4530-9D5A-22FF2AD8A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566" y="3854549"/>
                <a:ext cx="205387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1370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1CD7B-4B76-4CA8-98D0-571E8724B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Batch gradient or stochastic gradient descent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C9719E-C22E-4160-AA65-64FCE0BF19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311" y="1888929"/>
                <a:ext cx="78867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SG" dirty="0"/>
              </a:p>
              <a:p>
                <a:endParaRPr lang="en-US" dirty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US" dirty="0"/>
                  <a:t>U</a:t>
                </a:r>
                <a:r>
                  <a:rPr lang="en-SG" dirty="0"/>
                  <a:t>se all data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, batch gradient</a:t>
                </a:r>
              </a:p>
              <a:p>
                <a:pPr marL="514350" indent="-514350">
                  <a:buFont typeface="+mj-lt"/>
                  <a:buAutoNum type="arabicParenR"/>
                </a:pPr>
                <a:endParaRPr lang="en-SG" dirty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US" dirty="0"/>
                  <a:t>U</a:t>
                </a:r>
                <a:r>
                  <a:rPr lang="en-SG" dirty="0"/>
                  <a:t>se one sample at a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SG" dirty="0"/>
                  <a:t> stochastic gradient method</a:t>
                </a:r>
              </a:p>
              <a:p>
                <a:pPr marL="514350" indent="-514350">
                  <a:buFont typeface="+mj-lt"/>
                  <a:buAutoNum type="arabicParenR"/>
                </a:pPr>
                <a:endParaRPr lang="en-SG" dirty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US" dirty="0"/>
                  <a:t>U</a:t>
                </a:r>
                <a:r>
                  <a:rPr lang="en-SG" dirty="0"/>
                  <a:t>se some fraction of total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SG" dirty="0"/>
                  <a:t>, mini-batch</a:t>
                </a:r>
              </a:p>
              <a:p>
                <a:endParaRPr lang="en-US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C9719E-C22E-4160-AA65-64FCE0BF19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311" y="1888929"/>
                <a:ext cx="7886700" cy="4351338"/>
              </a:xfrm>
              <a:blipFill>
                <a:blip r:embed="rId2"/>
                <a:stretch>
                  <a:fillRect l="-1624" r="-1083" b="-30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0743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C4FC8-672C-42C0-AF36-7CE9637BC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batch, stochastic, and mini-batch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C6879B-EC5F-44AA-94CA-7E4D24566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98" y="3429000"/>
            <a:ext cx="7886700" cy="22376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7B1248-A06E-429D-8989-59F1289D3DDE}"/>
              </a:ext>
            </a:extLst>
          </p:cNvPr>
          <p:cNvSpPr txBox="1"/>
          <p:nvPr/>
        </p:nvSpPr>
        <p:spPr>
          <a:xfrm>
            <a:off x="821202" y="2505670"/>
            <a:ext cx="2293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Batch: use all data, slow but smooth decrease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09B769-EFF7-40AF-904C-846055C7E822}"/>
              </a:ext>
            </a:extLst>
          </p:cNvPr>
          <p:cNvSpPr txBox="1"/>
          <p:nvPr/>
        </p:nvSpPr>
        <p:spPr>
          <a:xfrm>
            <a:off x="3523955" y="2222690"/>
            <a:ext cx="22930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Stochastic gradient descent (SGD): faster but noisier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340661-4D09-4BD8-BFD7-2BE0F8A2C5CD}"/>
              </a:ext>
            </a:extLst>
          </p:cNvPr>
          <p:cNvSpPr txBox="1"/>
          <p:nvPr/>
        </p:nvSpPr>
        <p:spPr>
          <a:xfrm>
            <a:off x="6337495" y="2342271"/>
            <a:ext cx="1856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Mini-batch: somewhere in between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315C89-38E7-4BAC-9AF9-2C1AECBDC9F1}"/>
              </a:ext>
            </a:extLst>
          </p:cNvPr>
          <p:cNvSpPr/>
          <p:nvPr/>
        </p:nvSpPr>
        <p:spPr>
          <a:xfrm>
            <a:off x="1955412" y="6027056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SG" sz="1200" dirty="0">
                <a:hlinkClick r:id="rId3"/>
              </a:rPr>
              <a:t>https://www.analyticsvidhya.com/blog/2021/03/variants-of-gradient-descent-algorithm/</a:t>
            </a:r>
            <a:r>
              <a:rPr lang="en-SG" sz="12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0EC2DA-DC13-43B8-8DCD-4F3527ABF93C}"/>
              </a:ext>
            </a:extLst>
          </p:cNvPr>
          <p:cNvSpPr txBox="1"/>
          <p:nvPr/>
        </p:nvSpPr>
        <p:spPr>
          <a:xfrm>
            <a:off x="4554756" y="1686227"/>
            <a:ext cx="3945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Epoch: an entire dataset is used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96408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C34AC-1154-4F34-A1AA-F4EDC7CD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one data point at a step mean “stochastic”?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6C7EC9-E262-4457-972B-997A852C99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89383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SG" dirty="0"/>
                  <a:t> be the overall average of all samples</a:t>
                </a:r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den>
                    </m:f>
                  </m:oMath>
                </a14:m>
                <a:r>
                  <a:rPr lang="en-SG" dirty="0"/>
                  <a:t>  or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𝐰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𝐰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d>
                  </m:oMath>
                </a14:m>
                <a:r>
                  <a:rPr lang="en-SG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SG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SG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den>
                      </m:f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r>
                  <a:rPr lang="en-US" dirty="0"/>
                  <a:t>N</a:t>
                </a:r>
                <a:r>
                  <a:rPr lang="en-SG" dirty="0" err="1"/>
                  <a:t>ote</a:t>
                </a:r>
                <a:r>
                  <a:rPr lang="en-SG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SG" dirty="0"/>
                  <a:t> is the fluctuation, 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𝐰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𝐰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r>
                  <a:rPr lang="en-US" dirty="0"/>
                  <a:t>is a Langevin equation where noise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SG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SG" dirty="0"/>
                  <a:t> depends on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en-SG" dirty="0"/>
                  <a:t> </a:t>
                </a:r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6C7EC9-E262-4457-972B-997A852C99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893830"/>
              </a:xfrm>
              <a:blipFill>
                <a:blip r:embed="rId2"/>
                <a:stretch>
                  <a:fillRect l="-1546" t="-161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6871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C59FAE6-B5E1-4E83-8681-C637307A360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– `He’ initialization</a:t>
                </a:r>
                <a:endParaRPr lang="en-SG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C59FAE6-B5E1-4E83-8681-C637307A36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 t="-13825" b="-2119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51B3EE-C7AD-49A8-80A6-559C164821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82136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Take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SG" dirty="0"/>
                  <a:t> as Gaussian random numbers,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, variable of earlier layer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SG" dirty="0"/>
                  <a:t>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SG" dirty="0"/>
                  <a:t> should not grow with each layer of the deep network.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ReLU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51B3EE-C7AD-49A8-80A6-559C164821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821360"/>
              </a:xfrm>
              <a:blipFill>
                <a:blip r:embed="rId3"/>
                <a:stretch>
                  <a:fillRect l="-1159" t="-2908" r="-30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1140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9511-2764-47A5-8117-179BC36F3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convergence (SGD) 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5022F2-BDAA-4924-A450-9591164639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cond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SG" dirty="0"/>
                  <a:t> 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den>
                    </m:f>
                  </m:oMath>
                </a14:m>
                <a:endParaRPr lang="en-SG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SG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 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5022F2-BDAA-4924-A450-9591164639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2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200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AF19A-3FDD-4E89-8AF5-8EE636C15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comments on optimization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6B44C-A36E-409B-A6F9-C1290BD84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302" y="2060756"/>
            <a:ext cx="3819253" cy="443211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 a deep neural network, are we really able to find the global minimum?</a:t>
            </a:r>
          </a:p>
          <a:p>
            <a:r>
              <a:rPr lang="en-US" dirty="0"/>
              <a:t>There are more saddle points than the minimum in higher dimensions.</a:t>
            </a:r>
          </a:p>
          <a:p>
            <a:r>
              <a:rPr lang="en-US" dirty="0"/>
              <a:t>The SGD is based on the assumption of a local minimum, but why does it work at all?</a:t>
            </a:r>
          </a:p>
          <a:p>
            <a:endParaRPr lang="en-US" dirty="0"/>
          </a:p>
          <a:p>
            <a:r>
              <a:rPr lang="en-US" dirty="0"/>
              <a:t>Ill conditioning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D3BF4-F805-4406-BBA1-2B5390F75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332" y="2004300"/>
            <a:ext cx="4818693" cy="24240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7F49AA-D12D-44C8-98F0-860D9CA901C6}"/>
                  </a:ext>
                </a:extLst>
              </p:cNvPr>
              <p:cNvSpPr txBox="1"/>
              <p:nvPr/>
            </p:nvSpPr>
            <p:spPr>
              <a:xfrm>
                <a:off x="4506686" y="4663440"/>
                <a:ext cx="433686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gradient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SG" dirty="0"/>
                  <a:t> increases instead of decreasing in a convolutional network.  But nevertheless, the errors decrease.  From Fig. 8.1, “Deep Learning,” Goodfellow, </a:t>
                </a:r>
                <a:r>
                  <a:rPr lang="en-SG" dirty="0" err="1"/>
                  <a:t>Bengio</a:t>
                </a:r>
                <a:r>
                  <a:rPr lang="en-SG" dirty="0"/>
                  <a:t>, and Courville.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7F49AA-D12D-44C8-98F0-860D9CA90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686" y="4663440"/>
                <a:ext cx="4336868" cy="1754326"/>
              </a:xfrm>
              <a:prstGeom prst="rect">
                <a:avLst/>
              </a:prstGeom>
              <a:blipFill>
                <a:blip r:embed="rId3"/>
                <a:stretch>
                  <a:fillRect l="-1124" t="-1736" b="-45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91545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851D5-ECB4-41F4-A0AD-7C4DA738B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Momentum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41CAFB-EF29-470E-859F-B6EA64DB62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4962253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𝑑𝑤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SG" dirty="0"/>
              </a:p>
              <a:p>
                <a:endParaRPr lang="en-US" dirty="0"/>
              </a:p>
              <a:p>
                <a:r>
                  <a:rPr lang="en-US" dirty="0"/>
                  <a:t>A</a:t>
                </a:r>
                <a:r>
                  <a:rPr lang="en-SG" dirty="0"/>
                  <a:t>s SGD with   momentum </a:t>
                </a: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</m:oMath>
                </a14:m>
                <a:endParaRPr lang="en-US" b="1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SG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41CAFB-EF29-470E-859F-B6EA64DB62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4962253" cy="4351338"/>
              </a:xfrm>
              <a:blipFill>
                <a:blip r:embed="rId2"/>
                <a:stretch>
                  <a:fillRect l="-221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5C1D253-53FE-4421-B6B1-EF8E3B08A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807" y="3701008"/>
            <a:ext cx="2449967" cy="22602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016A6F-A33A-43C8-A1FB-66A544FC5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6402" y="1593398"/>
            <a:ext cx="4012202" cy="12027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01E974-B3E4-40E7-BBD0-2364F1294E68}"/>
                  </a:ext>
                </a:extLst>
              </p:cNvPr>
              <p:cNvSpPr txBox="1"/>
              <p:nvPr/>
            </p:nvSpPr>
            <p:spPr>
              <a:xfrm>
                <a:off x="6805748" y="3677197"/>
                <a:ext cx="1946367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momentum method helps overcome the zigzag path. Black arrow is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SG" sz="1600" dirty="0"/>
                  <a:t>. Fig.8.5 in Goodfellow, et al.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01E974-B3E4-40E7-BBD0-2364F129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748" y="3677197"/>
                <a:ext cx="1946367" cy="2062103"/>
              </a:xfrm>
              <a:prstGeom prst="rect">
                <a:avLst/>
              </a:prstGeom>
              <a:blipFill>
                <a:blip r:embed="rId5"/>
                <a:stretch>
                  <a:fillRect l="-1563" t="-888" b="-295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38315BC-8D21-4D9A-B3BE-A379201D1513}"/>
              </a:ext>
            </a:extLst>
          </p:cNvPr>
          <p:cNvSpPr txBox="1"/>
          <p:nvPr/>
        </p:nvSpPr>
        <p:spPr>
          <a:xfrm>
            <a:off x="5375366" y="587829"/>
            <a:ext cx="2730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Stochastic Langevin equation</a:t>
            </a:r>
            <a:endParaRPr lang="en-SG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74F0325-4217-49B1-AB95-B3B12C74F8BE}"/>
              </a:ext>
            </a:extLst>
          </p:cNvPr>
          <p:cNvCxnSpPr>
            <a:cxnSpLocks/>
          </p:cNvCxnSpPr>
          <p:nvPr/>
        </p:nvCxnSpPr>
        <p:spPr>
          <a:xfrm flipH="1">
            <a:off x="4281055" y="1118700"/>
            <a:ext cx="695895" cy="391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787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DCAE5-9638-4908-B874-5136E1534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RMSProp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97DFA6-BD17-4609-B5DF-7403692DE9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learning rate is adaptive</a:t>
                </a:r>
              </a:p>
              <a:p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b="1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SG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r>
                  <a:rPr lang="en-US" dirty="0"/>
                  <a:t>Recommended constants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97DFA6-BD17-4609-B5DF-7403692DE9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9AAB0F-7D61-4055-AA12-39A44ED1097A}"/>
                  </a:ext>
                </a:extLst>
              </p:cNvPr>
              <p:cNvSpPr txBox="1"/>
              <p:nvPr/>
            </p:nvSpPr>
            <p:spPr>
              <a:xfrm>
                <a:off x="6368142" y="261261"/>
                <a:ext cx="198555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</m:oMath>
                </a14:m>
                <a:r>
                  <a:rPr lang="en-SG" dirty="0"/>
                  <a:t> : elementwise    multiplication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9AAB0F-7D61-4055-AA12-39A44ED10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42" y="261261"/>
                <a:ext cx="1985555" cy="923330"/>
              </a:xfrm>
              <a:prstGeom prst="rect">
                <a:avLst/>
              </a:prstGeom>
              <a:blipFill>
                <a:blip r:embed="rId4"/>
                <a:stretch>
                  <a:fillRect l="-2769" t="-3974" r="-615" b="-993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4B82CF-C137-43F3-8AB2-BCE56177AD4D}"/>
                  </a:ext>
                </a:extLst>
              </p:cNvPr>
              <p:cNvSpPr txBox="1"/>
              <p:nvPr/>
            </p:nvSpPr>
            <p:spPr>
              <a:xfrm>
                <a:off x="6792686" y="2677886"/>
                <a:ext cx="206729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SG" dirty="0"/>
                  <a:t>: decay rate,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SG" dirty="0"/>
                  <a:t>: learning rate,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SG" dirty="0"/>
                  <a:t> : avoid zero denominator.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4B82CF-C137-43F3-8AB2-BCE56177A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686" y="2677886"/>
                <a:ext cx="2067295" cy="1200329"/>
              </a:xfrm>
              <a:prstGeom prst="rect">
                <a:avLst/>
              </a:prstGeom>
              <a:blipFill>
                <a:blip r:embed="rId5"/>
                <a:stretch>
                  <a:fillRect l="-2360" t="-2538" r="-5605" b="-71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3102B2-3BA0-4CEA-AE8E-C8B0796B3F96}"/>
                  </a:ext>
                </a:extLst>
              </p:cNvPr>
              <p:cNvSpPr txBox="1"/>
              <p:nvPr/>
            </p:nvSpPr>
            <p:spPr>
              <a:xfrm>
                <a:off x="6792686" y="1718974"/>
                <a:ext cx="13438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3102B2-3BA0-4CEA-AE8E-C8B0796B3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686" y="1718974"/>
                <a:ext cx="1343891" cy="461665"/>
              </a:xfrm>
              <a:prstGeom prst="rect">
                <a:avLst/>
              </a:prstGeom>
              <a:blipFill>
                <a:blip r:embed="rId6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21506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51A2B-3F0F-4E39-85BF-8B18CE4D9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Adam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865F6-65DC-4565-847B-E3EFD2A2D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251" y="299816"/>
            <a:ext cx="5146766" cy="64632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2CD15E-5A37-4003-9197-F5D49CAF8504}"/>
                  </a:ext>
                </a:extLst>
              </p:cNvPr>
              <p:cNvSpPr txBox="1"/>
              <p:nvPr/>
            </p:nvSpPr>
            <p:spPr>
              <a:xfrm>
                <a:off x="573133" y="1562270"/>
                <a:ext cx="2594610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Adam combines the momentum and </a:t>
                </a:r>
                <a:r>
                  <a:rPr lang="en-US" dirty="0" err="1"/>
                  <a:t>RMSProp</a:t>
                </a:r>
                <a:r>
                  <a:rPr lang="en-US" dirty="0"/>
                  <a:t> with adaptive learning rate.</a:t>
                </a:r>
              </a:p>
              <a:p>
                <a:endParaRPr lang="en-US" dirty="0"/>
              </a:p>
              <a:p>
                <a:r>
                  <a:rPr lang="en-US" dirty="0"/>
                  <a:t>Suggested default parameters: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lang="en-SG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r>
                  <a:rPr lang="en-SG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=0.999</m:t>
                    </m:r>
                  </m:oMath>
                </a14:m>
                <a:r>
                  <a:rPr lang="en-SG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</m:sup>
                    </m:sSup>
                  </m:oMath>
                </a14:m>
                <a:r>
                  <a:rPr lang="en-SG" dirty="0"/>
                  <a:t>.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SG" dirty="0"/>
                  <a:t> is the repeat counts.  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</m:oMath>
                </a14:m>
                <a:r>
                  <a:rPr lang="en-SG" dirty="0"/>
                  <a:t> denotes elementwise multiplication</a:t>
                </a:r>
              </a:p>
              <a:p>
                <a:endParaRPr lang="en-US" dirty="0"/>
              </a:p>
              <a:p>
                <a:r>
                  <a:rPr lang="en-US" dirty="0"/>
                  <a:t>F</a:t>
                </a:r>
                <a:r>
                  <a:rPr lang="en-SG" dirty="0"/>
                  <a:t>rom Bishop page 225.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2CD15E-5A37-4003-9197-F5D49CAF8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33" y="1562270"/>
                <a:ext cx="2594610" cy="5078313"/>
              </a:xfrm>
              <a:prstGeom prst="rect">
                <a:avLst/>
              </a:prstGeom>
              <a:blipFill>
                <a:blip r:embed="rId3"/>
                <a:stretch>
                  <a:fillRect l="-1878" t="-600" b="-96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876AF2-D33D-46E7-8A02-ED3E8F525C6F}"/>
                  </a:ext>
                </a:extLst>
              </p:cNvPr>
              <p:cNvSpPr txBox="1"/>
              <p:nvPr/>
            </p:nvSpPr>
            <p:spPr>
              <a:xfrm>
                <a:off x="4322634" y="3387436"/>
                <a:ext cx="33250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SG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876AF2-D33D-46E7-8A02-ED3E8F525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634" y="3387436"/>
                <a:ext cx="33250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872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25465-7128-4EE3-9773-9A43EC874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order methods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2D0547-5D95-4F0D-A25E-434AE75FD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Newton iteration</a:t>
                </a:r>
              </a:p>
              <a:p>
                <a:pPr lvl="1"/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endParaRPr lang="en-US" b="1" dirty="0"/>
              </a:p>
              <a:p>
                <a:endParaRPr lang="en-US" dirty="0"/>
              </a:p>
              <a:p>
                <a:r>
                  <a:rPr lang="en-US" dirty="0"/>
                  <a:t>Conjugate Gradient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Line search in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BFGS</a:t>
                </a:r>
              </a:p>
              <a:p>
                <a:pPr lvl="1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iterative and approximately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2D0547-5D95-4F0D-A25E-434AE75FD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336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40EBBE-2A47-418D-A16F-9D705E99A1EE}"/>
                  </a:ext>
                </a:extLst>
              </p:cNvPr>
              <p:cNvSpPr txBox="1"/>
              <p:nvPr/>
            </p:nvSpPr>
            <p:spPr>
              <a:xfrm>
                <a:off x="5381898" y="2171563"/>
                <a:ext cx="257338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Regularized </a:t>
                </a:r>
                <a:r>
                  <a:rPr lang="en-US" i="1" dirty="0"/>
                  <a:t>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SG" dirty="0"/>
              </a:p>
              <a:p>
                <a:r>
                  <a:rPr lang="en-US" dirty="0"/>
                  <a:t>(</a:t>
                </a:r>
                <a:r>
                  <a:rPr lang="en-SG" dirty="0"/>
                  <a:t>Levenberg-Marquardt method)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40EBBE-2A47-418D-A16F-9D705E99A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898" y="2171563"/>
                <a:ext cx="2573382" cy="1200329"/>
              </a:xfrm>
              <a:prstGeom prst="rect">
                <a:avLst/>
              </a:prstGeom>
              <a:blipFill>
                <a:blip r:embed="rId4"/>
                <a:stretch>
                  <a:fillRect l="-2133" t="-2538" b="-71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5710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3CE4C-377E-4B8A-AD4A-187810B93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Broyden</a:t>
            </a:r>
            <a:r>
              <a:rPr lang="en-US" dirty="0"/>
              <a:t>-Fletcher-Goldfarb-</a:t>
            </a:r>
            <a:r>
              <a:rPr lang="en-US" dirty="0" err="1"/>
              <a:t>Shanno</a:t>
            </a:r>
            <a:r>
              <a:rPr lang="en-US" dirty="0"/>
              <a:t> (BFGS)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70348C-CDE8-4A1D-AD32-AE7B719F24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Newton method according to </a:t>
                </a:r>
              </a:p>
              <a:p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endParaRPr lang="en-US" b="1" dirty="0"/>
              </a:p>
              <a:p>
                <a:endParaRPr lang="en-US" dirty="0"/>
              </a:p>
              <a:p>
                <a:r>
                  <a:rPr lang="en-US" dirty="0"/>
                  <a:t>C</a:t>
                </a:r>
                <a:r>
                  <a:rPr lang="en-SG" dirty="0" err="1"/>
                  <a:t>ompute</a:t>
                </a:r>
                <a:r>
                  <a:rPr lang="en-SG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SG" dirty="0"/>
                  <a:t>iteratively according to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𝒖</m:t>
                    </m:r>
                  </m:oMath>
                </a14:m>
                <a:endParaRPr lang="en-US" b="1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en-US" dirty="0"/>
                  <a:t> update in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70348C-CDE8-4A1D-AD32-AE7B719F24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95AE0C-3A35-4A52-A808-5FD398248146}"/>
                  </a:ext>
                </a:extLst>
              </p:cNvPr>
              <p:cNvSpPr txBox="1"/>
              <p:nvPr/>
            </p:nvSpPr>
            <p:spPr>
              <a:xfrm>
                <a:off x="4474028" y="6222683"/>
                <a:ext cx="3683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Outer product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𝐚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95AE0C-3A35-4A52-A808-5FD398248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028" y="6222683"/>
                <a:ext cx="3683725" cy="369332"/>
              </a:xfrm>
              <a:prstGeom prst="rect">
                <a:avLst/>
              </a:prstGeom>
              <a:blipFill>
                <a:blip r:embed="rId4"/>
                <a:stretch>
                  <a:fillRect l="-1490" t="-10000" b="-2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8354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771D9-4BDE-E48E-3C75-39AF2B3AB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Wolfe conditions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C58E53-9FB5-4EC3-8843-03DC6FBFC1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7990" y="4421221"/>
                <a:ext cx="6375265" cy="1804481"/>
              </a:xfrm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SG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∇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SG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C58E53-9FB5-4EC3-8843-03DC6FBFC1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990" y="4421221"/>
                <a:ext cx="6375265" cy="180448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7848E8-1254-4C8F-24CF-2F28028E03D8}"/>
                  </a:ext>
                </a:extLst>
              </p:cNvPr>
              <p:cNvSpPr txBox="1"/>
              <p:nvPr/>
            </p:nvSpPr>
            <p:spPr>
              <a:xfrm>
                <a:off x="2441931" y="2232385"/>
                <a:ext cx="3812953" cy="14742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(−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groupChr>
                        </m:e>
                        <m:li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lim>
                      </m:limLow>
                    </m:oMath>
                  </m:oMathPara>
                </a14:m>
                <a:endParaRPr lang="en-SG" sz="2400" dirty="0"/>
              </a:p>
              <a:p>
                <a:endParaRPr lang="en-SG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0&lt;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7848E8-1254-4C8F-24CF-2F28028E0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931" y="2232385"/>
                <a:ext cx="3812953" cy="1474250"/>
              </a:xfrm>
              <a:prstGeom prst="rect">
                <a:avLst/>
              </a:prstGeom>
              <a:blipFill>
                <a:blip r:embed="rId3"/>
                <a:stretch>
                  <a:fillRect b="-413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91AAF5-2D73-5AD0-8B43-E757104D9611}"/>
                  </a:ext>
                </a:extLst>
              </p:cNvPr>
              <p:cNvSpPr txBox="1"/>
              <p:nvPr/>
            </p:nvSpPr>
            <p:spPr>
              <a:xfrm>
                <a:off x="7184571" y="1215414"/>
                <a:ext cx="11415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91AAF5-2D73-5AD0-8B43-E757104D9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571" y="1215414"/>
                <a:ext cx="1141581" cy="369332"/>
              </a:xfrm>
              <a:prstGeom prst="rect">
                <a:avLst/>
              </a:prstGeom>
              <a:blipFill>
                <a:blip r:embed="rId4"/>
                <a:stretch>
                  <a:fillRect l="-1070" r="-1604" b="-1639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641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C2093-97B8-40EF-8583-39FEA8664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classes in </a:t>
            </a:r>
            <a:r>
              <a:rPr lang="en-US" dirty="0" err="1"/>
              <a:t>Pytorch</a:t>
            </a:r>
            <a:r>
              <a:rPr lang="en-US" dirty="0"/>
              <a:t>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F2810-9816-42C1-B9F9-27F059076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torch.optim</a:t>
            </a:r>
            <a:r>
              <a:rPr lang="en-US" dirty="0"/>
              <a:t> as </a:t>
            </a:r>
            <a:r>
              <a:rPr lang="en-US" dirty="0" err="1"/>
              <a:t>optim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optimizer = </a:t>
            </a:r>
            <a:r>
              <a:rPr lang="en-US" dirty="0" err="1"/>
              <a:t>optim.SGD</a:t>
            </a:r>
            <a:r>
              <a:rPr lang="en-US" dirty="0"/>
              <a:t>(params, </a:t>
            </a:r>
            <a:r>
              <a:rPr lang="en-US" dirty="0" err="1"/>
              <a:t>lr</a:t>
            </a:r>
            <a:r>
              <a:rPr lang="en-US" dirty="0"/>
              <a:t> = 0.001, momentum = 0, dampening=0, </a:t>
            </a:r>
            <a:r>
              <a:rPr lang="en-US" dirty="0" err="1"/>
              <a:t>weight_decay</a:t>
            </a:r>
            <a:r>
              <a:rPr lang="en-US" dirty="0"/>
              <a:t> = 0, …)</a:t>
            </a:r>
          </a:p>
          <a:p>
            <a:pPr marL="0" indent="0">
              <a:buNone/>
            </a:pPr>
            <a:r>
              <a:rPr lang="en-US" dirty="0"/>
              <a:t>Or </a:t>
            </a:r>
          </a:p>
          <a:p>
            <a:pPr marL="0" indent="0">
              <a:buNone/>
            </a:pPr>
            <a:r>
              <a:rPr lang="en-US" dirty="0"/>
              <a:t>optimizer = </a:t>
            </a:r>
            <a:r>
              <a:rPr lang="en-US" dirty="0" err="1"/>
              <a:t>optim.RMSprop</a:t>
            </a:r>
            <a:r>
              <a:rPr lang="en-US" dirty="0"/>
              <a:t>([x], </a:t>
            </a:r>
            <a:r>
              <a:rPr lang="en-US" dirty="0" err="1"/>
              <a:t>lr</a:t>
            </a:r>
            <a:r>
              <a:rPr lang="en-US" dirty="0"/>
              <a:t>=0.3) </a:t>
            </a:r>
          </a:p>
          <a:p>
            <a:pPr marL="0" indent="0">
              <a:buNone/>
            </a:pPr>
            <a:r>
              <a:rPr lang="en-US" dirty="0"/>
              <a:t>Or </a:t>
            </a:r>
            <a:r>
              <a:rPr lang="en-US" dirty="0" err="1"/>
              <a:t>optim.Adam</a:t>
            </a:r>
            <a:r>
              <a:rPr lang="en-US" dirty="0"/>
              <a:t>(param, </a:t>
            </a:r>
            <a:r>
              <a:rPr lang="en-US" dirty="0" err="1"/>
              <a:t>lr</a:t>
            </a:r>
            <a:r>
              <a:rPr lang="en-US" dirty="0"/>
              <a:t>=0.001) or </a:t>
            </a:r>
            <a:r>
              <a:rPr lang="en-US" dirty="0" err="1"/>
              <a:t>optim.LBFGS</a:t>
            </a:r>
            <a:r>
              <a:rPr lang="en-US" dirty="0"/>
              <a:t>(…)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</a:t>
            </a:r>
            <a:r>
              <a:rPr lang="en-US" dirty="0" err="1"/>
              <a:t>optimizer.step</a:t>
            </a:r>
            <a:r>
              <a:rPr lang="en-US" dirty="0"/>
              <a:t>() to call.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786547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DA70E-2F1B-4BC4-A9C8-81E06D92D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training steps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07B45-8FAD-4BF7-88AC-C1E0BFB85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SG" dirty="0" err="1"/>
              <a:t>num_epochs</a:t>
            </a:r>
            <a:r>
              <a:rPr lang="en-SG" dirty="0"/>
              <a:t> = 100    </a:t>
            </a:r>
          </a:p>
          <a:p>
            <a:pPr marL="0" indent="0">
              <a:buNone/>
            </a:pPr>
            <a:r>
              <a:rPr lang="en-SG" dirty="0"/>
              <a:t>for epoch in range(</a:t>
            </a:r>
            <a:r>
              <a:rPr lang="en-SG" dirty="0" err="1"/>
              <a:t>num_epochs</a:t>
            </a:r>
            <a:r>
              <a:rPr lang="en-SG" dirty="0"/>
              <a:t>):</a:t>
            </a:r>
          </a:p>
          <a:p>
            <a:pPr marL="0" indent="0">
              <a:buNone/>
            </a:pPr>
            <a:r>
              <a:rPr lang="en-SG" dirty="0"/>
              <a:t>     for inputs, labels in </a:t>
            </a:r>
            <a:r>
              <a:rPr lang="en-SG" dirty="0" err="1"/>
              <a:t>dataloader</a:t>
            </a:r>
            <a:r>
              <a:rPr lang="en-SG" dirty="0"/>
              <a:t>:</a:t>
            </a:r>
          </a:p>
          <a:p>
            <a:pPr marL="0" indent="0">
              <a:buNone/>
            </a:pPr>
            <a:r>
              <a:rPr lang="en-SG" dirty="0"/>
              <a:t>        # Forward pass            </a:t>
            </a:r>
          </a:p>
          <a:p>
            <a:pPr marL="0" indent="0">
              <a:buNone/>
            </a:pPr>
            <a:r>
              <a:rPr lang="en-SG" dirty="0"/>
              <a:t>        outputs = model(inputs)            </a:t>
            </a:r>
          </a:p>
          <a:p>
            <a:pPr marL="0" indent="0">
              <a:buNone/>
            </a:pPr>
            <a:r>
              <a:rPr lang="en-SG" dirty="0"/>
              <a:t>        loss = criterion(outputs, labels)</a:t>
            </a:r>
          </a:p>
          <a:p>
            <a:pPr marL="0" indent="0">
              <a:buNone/>
            </a:pPr>
            <a:r>
              <a:rPr lang="en-SG" dirty="0"/>
              <a:t>        </a:t>
            </a:r>
          </a:p>
          <a:p>
            <a:pPr marL="0" indent="0">
              <a:buNone/>
            </a:pPr>
            <a:r>
              <a:rPr lang="en-SG" dirty="0"/>
              <a:t>        # Backward and optimize</a:t>
            </a:r>
          </a:p>
          <a:p>
            <a:pPr marL="0" indent="0">
              <a:buNone/>
            </a:pPr>
            <a:r>
              <a:rPr lang="en-SG" dirty="0"/>
              <a:t>        </a:t>
            </a:r>
            <a:r>
              <a:rPr lang="en-SG" dirty="0" err="1"/>
              <a:t>optimizer.zero_grad</a:t>
            </a:r>
            <a:r>
              <a:rPr lang="en-SG" dirty="0"/>
              <a:t>()  # Clear gradient</a:t>
            </a:r>
          </a:p>
          <a:p>
            <a:pPr marL="0" indent="0">
              <a:buNone/>
            </a:pPr>
            <a:r>
              <a:rPr lang="en-SG" dirty="0"/>
              <a:t>        </a:t>
            </a:r>
            <a:r>
              <a:rPr lang="en-SG" dirty="0" err="1"/>
              <a:t>loss.backward</a:t>
            </a:r>
            <a:r>
              <a:rPr lang="en-SG" dirty="0"/>
              <a:t>()  # Compute gradients</a:t>
            </a:r>
          </a:p>
          <a:p>
            <a:pPr marL="0" indent="0">
              <a:buNone/>
            </a:pPr>
            <a:r>
              <a:rPr lang="en-SG" dirty="0"/>
              <a:t>        </a:t>
            </a:r>
            <a:r>
              <a:rPr lang="en-SG" dirty="0" err="1"/>
              <a:t>optimizer.step</a:t>
            </a:r>
            <a:r>
              <a:rPr lang="en-SG" dirty="0"/>
              <a:t>()  # Update weights</a:t>
            </a:r>
          </a:p>
        </p:txBody>
      </p:sp>
    </p:spTree>
    <p:extLst>
      <p:ext uri="{BB962C8B-B14F-4D97-AF65-F5344CB8AC3E}">
        <p14:creationId xmlns:p14="http://schemas.microsoft.com/office/powerpoint/2010/main" val="3485832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2017</TotalTime>
  <Words>1968</Words>
  <Application>Microsoft Office PowerPoint</Application>
  <PresentationFormat>On-screen Show (4:3)</PresentationFormat>
  <Paragraphs>292</Paragraphs>
  <Slides>32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Cambria Math</vt:lpstr>
      <vt:lpstr>Verdana</vt:lpstr>
      <vt:lpstr>Office Theme</vt:lpstr>
      <vt:lpstr>Week 4,  Deep Neural Networks</vt:lpstr>
      <vt:lpstr>Limitations of fixed basis functions/curse of dimensionality</vt:lpstr>
      <vt:lpstr>Multilayer Networks</vt:lpstr>
      <vt:lpstr>Parameters in matrix notation</vt:lpstr>
      <vt:lpstr>Hidden unit activation functions h(.)</vt:lpstr>
      <vt:lpstr>Universal approximation</vt:lpstr>
      <vt:lpstr>No free lunch theorem</vt:lpstr>
      <vt:lpstr>Deep network, how deep is deep?</vt:lpstr>
      <vt:lpstr>Error/loss/cost function</vt:lpstr>
      <vt:lpstr>Maximize likelihood, minimize error</vt:lpstr>
      <vt:lpstr>Binary classification</vt:lpstr>
      <vt:lpstr>K-different categories, e.g., recognize the handwritten letters from 0 to 9</vt:lpstr>
      <vt:lpstr>Gradient descent (find minimum of error function)</vt:lpstr>
      <vt:lpstr>Local quadratic approximation</vt:lpstr>
      <vt:lpstr>Gradient, eigen vectors</vt:lpstr>
      <vt:lpstr>Property of E(w) near a minimum</vt:lpstr>
      <vt:lpstr>Gradient Descent Optimization</vt:lpstr>
      <vt:lpstr>Going in the negative gradient direction</vt:lpstr>
      <vt:lpstr>Batch gradient or stochastic gradient descent</vt:lpstr>
      <vt:lpstr>Compare batch, stochastic, and mini-batch</vt:lpstr>
      <vt:lpstr>Why use one data point at a step mean “stochastic”?</vt:lpstr>
      <vt:lpstr>Parameter w – `He’ initialization</vt:lpstr>
      <vt:lpstr>Linear convergence (SGD) </vt:lpstr>
      <vt:lpstr>Some general comments on optimization </vt:lpstr>
      <vt:lpstr>Momentum</vt:lpstr>
      <vt:lpstr>RMSProp</vt:lpstr>
      <vt:lpstr>Adam</vt:lpstr>
      <vt:lpstr>Second order methods</vt:lpstr>
      <vt:lpstr>Broyden-Fletcher-Goldfarb-Shanno (BFGS)</vt:lpstr>
      <vt:lpstr>Wolfe conditions</vt:lpstr>
      <vt:lpstr>Optimization classes in Pytorch </vt:lpstr>
      <vt:lpstr>Example of training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AIS5203 Foundations of Deep Learning</dc:title>
  <dc:creator>Wang Jian-Sheng</dc:creator>
  <cp:lastModifiedBy>Wang Jian-Sheng</cp:lastModifiedBy>
  <cp:revision>167</cp:revision>
  <dcterms:created xsi:type="dcterms:W3CDTF">2021-10-08T06:30:06Z</dcterms:created>
  <dcterms:modified xsi:type="dcterms:W3CDTF">2026-02-10T03:34:23Z</dcterms:modified>
</cp:coreProperties>
</file>